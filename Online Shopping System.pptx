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2" r:id="rId19"/>
  </p:sldIdLst>
  <p:sldSz cx="100584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A12296-F993-4C13-9371-476D09BB8B9E}" v="16" dt="2026-10-10T04:20:57.2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291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ntapalli naga venkata sai baba" userId="0fcf6fa98e0c7a7b" providerId="LiveId" clId="{2A62BCC5-023D-4515-B0AE-13411DA7F18A}"/>
    <pc:docChg chg="undo redo custSel addSld modSld">
      <pc:chgData name="Anantapalli naga venkata sai baba" userId="0fcf6fa98e0c7a7b" providerId="LiveId" clId="{2A62BCC5-023D-4515-B0AE-13411DA7F18A}" dt="2026-10-10T04:49:46.556" v="388" actId="1076"/>
      <pc:docMkLst>
        <pc:docMk/>
      </pc:docMkLst>
      <pc:sldChg chg="addSp delSp modSp mod">
        <pc:chgData name="Anantapalli naga venkata sai baba" userId="0fcf6fa98e0c7a7b" providerId="LiveId" clId="{2A62BCC5-023D-4515-B0AE-13411DA7F18A}" dt="2026-10-10T04:49:46.556" v="388" actId="1076"/>
        <pc:sldMkLst>
          <pc:docMk/>
          <pc:sldMk cId="0" sldId="256"/>
        </pc:sldMkLst>
        <pc:spChg chg="add del mod">
          <ac:chgData name="Anantapalli naga venkata sai baba" userId="0fcf6fa98e0c7a7b" providerId="LiveId" clId="{2A62BCC5-023D-4515-B0AE-13411DA7F18A}" dt="2026-10-10T04:15:24.627" v="208"/>
          <ac:spMkLst>
            <pc:docMk/>
            <pc:sldMk cId="0" sldId="256"/>
            <ac:spMk id="2" creationId="{4AC3D96B-DA70-1F3D-5413-78CB34214EF0}"/>
          </ac:spMkLst>
        </pc:spChg>
        <pc:spChg chg="mod">
          <ac:chgData name="Anantapalli naga venkata sai baba" userId="0fcf6fa98e0c7a7b" providerId="LiveId" clId="{2A62BCC5-023D-4515-B0AE-13411DA7F18A}" dt="2026-10-10T04:21:54.501" v="374" actId="20577"/>
          <ac:spMkLst>
            <pc:docMk/>
            <pc:sldMk cId="0" sldId="256"/>
            <ac:spMk id="3" creationId="{00000000-0000-0000-0000-000000000000}"/>
          </ac:spMkLst>
        </pc:spChg>
        <pc:spChg chg="del">
          <ac:chgData name="Anantapalli naga venkata sai baba" userId="0fcf6fa98e0c7a7b" providerId="LiveId" clId="{2A62BCC5-023D-4515-B0AE-13411DA7F18A}" dt="2026-10-10T04:21:14.840" v="365" actId="478"/>
          <ac:spMkLst>
            <pc:docMk/>
            <pc:sldMk cId="0" sldId="256"/>
            <ac:spMk id="4" creationId="{00000000-0000-0000-0000-000000000000}"/>
          </ac:spMkLst>
        </pc:spChg>
        <pc:spChg chg="mod">
          <ac:chgData name="Anantapalli naga venkata sai baba" userId="0fcf6fa98e0c7a7b" providerId="LiveId" clId="{2A62BCC5-023D-4515-B0AE-13411DA7F18A}" dt="2026-10-10T04:21:47.658" v="373" actId="1076"/>
          <ac:spMkLst>
            <pc:docMk/>
            <pc:sldMk cId="0" sldId="256"/>
            <ac:spMk id="5" creationId="{00000000-0000-0000-0000-000000000000}"/>
          </ac:spMkLst>
        </pc:spChg>
        <pc:spChg chg="mod">
          <ac:chgData name="Anantapalli naga venkata sai baba" userId="0fcf6fa98e0c7a7b" providerId="LiveId" clId="{2A62BCC5-023D-4515-B0AE-13411DA7F18A}" dt="2026-10-10T04:21:24.461" v="370" actId="1076"/>
          <ac:spMkLst>
            <pc:docMk/>
            <pc:sldMk cId="0" sldId="256"/>
            <ac:spMk id="6" creationId="{00000000-0000-0000-0000-000000000000}"/>
          </ac:spMkLst>
        </pc:spChg>
        <pc:spChg chg="mod">
          <ac:chgData name="Anantapalli naga venkata sai baba" userId="0fcf6fa98e0c7a7b" providerId="LiveId" clId="{2A62BCC5-023D-4515-B0AE-13411DA7F18A}" dt="2026-10-10T04:21:27.883" v="371" actId="1076"/>
          <ac:spMkLst>
            <pc:docMk/>
            <pc:sldMk cId="0" sldId="256"/>
            <ac:spMk id="7" creationId="{00000000-0000-0000-0000-000000000000}"/>
          </ac:spMkLst>
        </pc:spChg>
        <pc:spChg chg="add del mod">
          <ac:chgData name="Anantapalli naga venkata sai baba" userId="0fcf6fa98e0c7a7b" providerId="LiveId" clId="{2A62BCC5-023D-4515-B0AE-13411DA7F18A}" dt="2026-10-10T04:18:46.413" v="306"/>
          <ac:spMkLst>
            <pc:docMk/>
            <pc:sldMk cId="0" sldId="256"/>
            <ac:spMk id="11" creationId="{CCAA1C40-79A9-6AB3-D1B9-6598032A93C7}"/>
          </ac:spMkLst>
        </pc:spChg>
        <pc:spChg chg="add mod">
          <ac:chgData name="Anantapalli naga venkata sai baba" userId="0fcf6fa98e0c7a7b" providerId="LiveId" clId="{2A62BCC5-023D-4515-B0AE-13411DA7F18A}" dt="2026-10-10T04:49:46.556" v="388" actId="1076"/>
          <ac:spMkLst>
            <pc:docMk/>
            <pc:sldMk cId="0" sldId="256"/>
            <ac:spMk id="12" creationId="{6317178D-0FF1-6BE0-E69A-F9AF3FA16B94}"/>
          </ac:spMkLst>
        </pc:spChg>
        <pc:spChg chg="add del mod">
          <ac:chgData name="Anantapalli naga venkata sai baba" userId="0fcf6fa98e0c7a7b" providerId="LiveId" clId="{2A62BCC5-023D-4515-B0AE-13411DA7F18A}" dt="2026-10-10T04:21:14.842" v="367"/>
          <ac:spMkLst>
            <pc:docMk/>
            <pc:sldMk cId="0" sldId="256"/>
            <ac:spMk id="13" creationId="{816F2E73-8290-3589-73F3-7B93775F3A48}"/>
          </ac:spMkLst>
        </pc:spChg>
        <pc:picChg chg="add">
          <ac:chgData name="Anantapalli naga venkata sai baba" userId="0fcf6fa98e0c7a7b" providerId="LiveId" clId="{2A62BCC5-023D-4515-B0AE-13411DA7F18A}" dt="2026-10-10T04:13:28.533" v="95" actId="22"/>
          <ac:picMkLst>
            <pc:docMk/>
            <pc:sldMk cId="0" sldId="256"/>
            <ac:picMk id="10" creationId="{198EC9AE-799E-F806-818E-BBE21A1D62DD}"/>
          </ac:picMkLst>
        </pc:picChg>
        <pc:picChg chg="add mod">
          <ac:chgData name="Anantapalli naga venkata sai baba" userId="0fcf6fa98e0c7a7b" providerId="LiveId" clId="{2A62BCC5-023D-4515-B0AE-13411DA7F18A}" dt="2026-10-10T04:21:21.210" v="369" actId="1076"/>
          <ac:picMkLst>
            <pc:docMk/>
            <pc:sldMk cId="0" sldId="256"/>
            <ac:picMk id="14" creationId="{34F70B25-205D-6A1F-CE43-FD70CF04073C}"/>
          </ac:picMkLst>
        </pc:picChg>
      </pc:sldChg>
      <pc:sldChg chg="addSp modSp">
        <pc:chgData name="Anantapalli naga venkata sai baba" userId="0fcf6fa98e0c7a7b" providerId="LiveId" clId="{2A62BCC5-023D-4515-B0AE-13411DA7F18A}" dt="2026-10-10T04:13:23.039" v="93"/>
        <pc:sldMkLst>
          <pc:docMk/>
          <pc:sldMk cId="0" sldId="257"/>
        </pc:sldMkLst>
        <pc:picChg chg="add mod">
          <ac:chgData name="Anantapalli naga venkata sai baba" userId="0fcf6fa98e0c7a7b" providerId="LiveId" clId="{2A62BCC5-023D-4515-B0AE-13411DA7F18A}" dt="2026-10-10T04:13:23.039" v="93"/>
          <ac:picMkLst>
            <pc:docMk/>
            <pc:sldMk cId="0" sldId="257"/>
            <ac:picMk id="3" creationId="{74FC9790-07B3-CCB8-0B16-D2FC9B479215}"/>
          </ac:picMkLst>
        </pc:picChg>
      </pc:sldChg>
      <pc:sldChg chg="delSp modSp mod">
        <pc:chgData name="Anantapalli naga venkata sai baba" userId="0fcf6fa98e0c7a7b" providerId="LiveId" clId="{2A62BCC5-023D-4515-B0AE-13411DA7F18A}" dt="2026-09-29T13:52:53.221" v="5" actId="1076"/>
        <pc:sldMkLst>
          <pc:docMk/>
          <pc:sldMk cId="0" sldId="268"/>
        </pc:sldMkLst>
        <pc:picChg chg="mod">
          <ac:chgData name="Anantapalli naga venkata sai baba" userId="0fcf6fa98e0c7a7b" providerId="LiveId" clId="{2A62BCC5-023D-4515-B0AE-13411DA7F18A}" dt="2026-09-29T13:52:47.408" v="4" actId="1076"/>
          <ac:picMkLst>
            <pc:docMk/>
            <pc:sldMk cId="0" sldId="268"/>
            <ac:picMk id="7" creationId="{00000000-0000-0000-0000-000000000000}"/>
          </ac:picMkLst>
        </pc:picChg>
        <pc:picChg chg="mod">
          <ac:chgData name="Anantapalli naga venkata sai baba" userId="0fcf6fa98e0c7a7b" providerId="LiveId" clId="{2A62BCC5-023D-4515-B0AE-13411DA7F18A}" dt="2026-09-29T13:52:53.221" v="5" actId="1076"/>
          <ac:picMkLst>
            <pc:docMk/>
            <pc:sldMk cId="0" sldId="268"/>
            <ac:picMk id="9" creationId="{00000000-0000-0000-0000-000000000000}"/>
          </ac:picMkLst>
        </pc:picChg>
      </pc:sldChg>
      <pc:sldChg chg="addSp delSp modSp mod">
        <pc:chgData name="Anantapalli naga venkata sai baba" userId="0fcf6fa98e0c7a7b" providerId="LiveId" clId="{2A62BCC5-023D-4515-B0AE-13411DA7F18A}" dt="2026-09-30T09:26:12.125" v="91" actId="1035"/>
        <pc:sldMkLst>
          <pc:docMk/>
          <pc:sldMk cId="0" sldId="269"/>
        </pc:sldMkLst>
        <pc:spChg chg="mod">
          <ac:chgData name="Anantapalli naga venkata sai baba" userId="0fcf6fa98e0c7a7b" providerId="LiveId" clId="{2A62BCC5-023D-4515-B0AE-13411DA7F18A}" dt="2026-09-29T13:53:23.212" v="6" actId="14100"/>
          <ac:spMkLst>
            <pc:docMk/>
            <pc:sldMk cId="0" sldId="269"/>
            <ac:spMk id="4" creationId="{00000000-0000-0000-0000-000000000000}"/>
          </ac:spMkLst>
        </pc:spChg>
        <pc:spChg chg="mod">
          <ac:chgData name="Anantapalli naga venkata sai baba" userId="0fcf6fa98e0c7a7b" providerId="LiveId" clId="{2A62BCC5-023D-4515-B0AE-13411DA7F18A}" dt="2026-09-29T13:53:27.043" v="7" actId="14100"/>
          <ac:spMkLst>
            <pc:docMk/>
            <pc:sldMk cId="0" sldId="269"/>
            <ac:spMk id="5" creationId="{00000000-0000-0000-0000-000000000000}"/>
          </ac:spMkLst>
        </pc:spChg>
        <pc:spChg chg="mod">
          <ac:chgData name="Anantapalli naga venkata sai baba" userId="0fcf6fa98e0c7a7b" providerId="LiveId" clId="{2A62BCC5-023D-4515-B0AE-13411DA7F18A}" dt="2026-09-29T13:54:35.271" v="22" actId="1076"/>
          <ac:spMkLst>
            <pc:docMk/>
            <pc:sldMk cId="0" sldId="269"/>
            <ac:spMk id="6" creationId="{00000000-0000-0000-0000-000000000000}"/>
          </ac:spMkLst>
        </pc:spChg>
        <pc:picChg chg="add mod">
          <ac:chgData name="Anantapalli naga venkata sai baba" userId="0fcf6fa98e0c7a7b" providerId="LiveId" clId="{2A62BCC5-023D-4515-B0AE-13411DA7F18A}" dt="2026-09-30T09:26:12.051" v="90" actId="1076"/>
          <ac:picMkLst>
            <pc:docMk/>
            <pc:sldMk cId="0" sldId="269"/>
            <ac:picMk id="14" creationId="{63B41FAF-11AE-2CF5-A9B9-51299049AC71}"/>
          </ac:picMkLst>
        </pc:picChg>
        <pc:picChg chg="add mod">
          <ac:chgData name="Anantapalli naga venkata sai baba" userId="0fcf6fa98e0c7a7b" providerId="LiveId" clId="{2A62BCC5-023D-4515-B0AE-13411DA7F18A}" dt="2026-09-30T09:26:12.125" v="91" actId="1035"/>
          <ac:picMkLst>
            <pc:docMk/>
            <pc:sldMk cId="0" sldId="269"/>
            <ac:picMk id="16" creationId="{2F01ADCA-3D5D-9B77-3EC7-879087547C29}"/>
          </ac:picMkLst>
        </pc:picChg>
      </pc:sldChg>
      <pc:sldChg chg="addSp delSp modSp mod">
        <pc:chgData name="Anantapalli naga venkata sai baba" userId="0fcf6fa98e0c7a7b" providerId="LiveId" clId="{2A62BCC5-023D-4515-B0AE-13411DA7F18A}" dt="2026-09-29T13:58:54.246" v="43"/>
        <pc:sldMkLst>
          <pc:docMk/>
          <pc:sldMk cId="0" sldId="271"/>
        </pc:sldMkLst>
        <pc:spChg chg="add mod">
          <ac:chgData name="Anantapalli naga venkata sai baba" userId="0fcf6fa98e0c7a7b" providerId="LiveId" clId="{2A62BCC5-023D-4515-B0AE-13411DA7F18A}" dt="2026-09-29T13:58:38.999" v="40" actId="14100"/>
          <ac:spMkLst>
            <pc:docMk/>
            <pc:sldMk cId="0" sldId="271"/>
            <ac:spMk id="9" creationId="{10B7602E-7846-568F-E62D-C9674AD1F0E4}"/>
          </ac:spMkLst>
        </pc:spChg>
      </pc:sldChg>
      <pc:sldChg chg="addSp delSp modSp new mod">
        <pc:chgData name="Anantapalli naga venkata sai baba" userId="0fcf6fa98e0c7a7b" providerId="LiveId" clId="{2A62BCC5-023D-4515-B0AE-13411DA7F18A}" dt="2026-09-29T14:01:48.489" v="82" actId="255"/>
        <pc:sldMkLst>
          <pc:docMk/>
          <pc:sldMk cId="167400235" sldId="273"/>
        </pc:sldMkLst>
        <pc:spChg chg="add mod">
          <ac:chgData name="Anantapalli naga venkata sai baba" userId="0fcf6fa98e0c7a7b" providerId="LiveId" clId="{2A62BCC5-023D-4515-B0AE-13411DA7F18A}" dt="2026-09-29T13:59:23.997" v="49"/>
          <ac:spMkLst>
            <pc:docMk/>
            <pc:sldMk cId="167400235" sldId="273"/>
            <ac:spMk id="4" creationId="{F87BCF4A-35AA-4167-88A1-41DBB688235A}"/>
          </ac:spMkLst>
        </pc:spChg>
        <pc:spChg chg="add mod">
          <ac:chgData name="Anantapalli naga venkata sai baba" userId="0fcf6fa98e0c7a7b" providerId="LiveId" clId="{2A62BCC5-023D-4515-B0AE-13411DA7F18A}" dt="2026-09-29T14:01:48.489" v="82" actId="255"/>
          <ac:spMkLst>
            <pc:docMk/>
            <pc:sldMk cId="167400235" sldId="273"/>
            <ac:spMk id="5" creationId="{A2BFAD1D-DAE7-79EB-1A0B-D845895290B9}"/>
          </ac:spMkLst>
        </pc:spChg>
        <pc:spChg chg="add mod">
          <ac:chgData name="Anantapalli naga venkata sai baba" userId="0fcf6fa98e0c7a7b" providerId="LiveId" clId="{2A62BCC5-023D-4515-B0AE-13411DA7F18A}" dt="2026-09-29T14:01:24.291" v="80" actId="20577"/>
          <ac:spMkLst>
            <pc:docMk/>
            <pc:sldMk cId="167400235" sldId="273"/>
            <ac:spMk id="8" creationId="{299C9DFA-64BA-361A-B9D7-65FC7DB90D4D}"/>
          </ac:spMkLst>
        </pc:spChg>
        <pc:picChg chg="add">
          <ac:chgData name="Anantapalli naga venkata sai baba" userId="0fcf6fa98e0c7a7b" providerId="LiveId" clId="{2A62BCC5-023D-4515-B0AE-13411DA7F18A}" dt="2026-09-29T14:01:08.445" v="67" actId="22"/>
          <ac:picMkLst>
            <pc:docMk/>
            <pc:sldMk cId="167400235" sldId="273"/>
            <ac:picMk id="10" creationId="{D5BA5538-050E-0965-A8A6-B0BCE97CB11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jp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392555" y="910435"/>
            <a:ext cx="7863840" cy="8002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1" dirty="0">
                <a:solidFill>
                  <a:srgbClr val="274979"/>
                </a:solidFill>
                <a:latin typeface="Georgia"/>
              </a:rPr>
              <a:t>Database Management System Cornerstone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2199021"/>
            <a:ext cx="5669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dirty="0">
                <a:solidFill>
                  <a:srgbClr val="191919"/>
                </a:solidFill>
                <a:latin typeface="Georgia"/>
              </a:rPr>
              <a:t>ONLINE SHOPPING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31620" y="29677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dirty="0">
                <a:solidFill>
                  <a:srgbClr val="D62F2F"/>
                </a:solidFill>
                <a:latin typeface="Georgia"/>
              </a:rPr>
              <a:t>Presented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03220" y="3736923"/>
            <a:ext cx="2926080" cy="11695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just">
              <a:spcAft>
                <a:spcPts val="400"/>
              </a:spcAft>
            </a:pPr>
            <a:r>
              <a:rPr sz="1500" b="1" dirty="0">
                <a:solidFill>
                  <a:srgbClr val="274979"/>
                </a:solidFill>
                <a:latin typeface="Aptos Narrow" panose="020B0004020202020204" pitchFamily="34" charset="0"/>
                <a:cs typeface="Times New Roman" panose="02020603050405020304" pitchFamily="18" charset="0"/>
              </a:rPr>
              <a:t>1. </a:t>
            </a:r>
            <a:r>
              <a:rPr lang="en-US" sz="1500" b="1" dirty="0" err="1">
                <a:solidFill>
                  <a:srgbClr val="274979"/>
                </a:solidFill>
                <a:latin typeface="Aptos Narrow" panose="020B0004020202020204" pitchFamily="34" charset="0"/>
                <a:cs typeface="Times New Roman" panose="02020603050405020304" pitchFamily="18" charset="0"/>
              </a:rPr>
              <a:t>A.N.V.Sai</a:t>
            </a:r>
            <a:r>
              <a:rPr lang="en-US" sz="1500" b="1" dirty="0">
                <a:solidFill>
                  <a:srgbClr val="274979"/>
                </a:solidFill>
                <a:latin typeface="Aptos Narrow" panose="020B0004020202020204" pitchFamily="34" charset="0"/>
                <a:cs typeface="Times New Roman" panose="02020603050405020304" pitchFamily="18" charset="0"/>
              </a:rPr>
              <a:t> Baba(25B11AI036)</a:t>
            </a:r>
            <a:endParaRPr sz="1500" b="1" dirty="0">
              <a:solidFill>
                <a:srgbClr val="274979"/>
              </a:solidFill>
              <a:latin typeface="Aptos Narrow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400"/>
              </a:spcAft>
            </a:pPr>
            <a:r>
              <a:rPr sz="1500" b="1" dirty="0">
                <a:solidFill>
                  <a:srgbClr val="274979"/>
                </a:solidFill>
                <a:latin typeface="Aptos Narrow" panose="020B0004020202020204" pitchFamily="34" charset="0"/>
                <a:cs typeface="Times New Roman" panose="02020603050405020304" pitchFamily="18" charset="0"/>
              </a:rPr>
              <a:t>2. </a:t>
            </a:r>
            <a:r>
              <a:rPr lang="en-US" sz="1500" b="1" dirty="0" err="1">
                <a:solidFill>
                  <a:srgbClr val="274979"/>
                </a:solidFill>
                <a:latin typeface="Aptos Narrow" panose="020B0004020202020204" pitchFamily="34" charset="0"/>
                <a:cs typeface="Times New Roman" panose="02020603050405020304" pitchFamily="18" charset="0"/>
              </a:rPr>
              <a:t>A.Santhosh</a:t>
            </a:r>
            <a:r>
              <a:rPr lang="en-US" sz="1500" b="1" dirty="0">
                <a:solidFill>
                  <a:srgbClr val="274979"/>
                </a:solidFill>
                <a:latin typeface="Aptos Narrow" panose="020B0004020202020204" pitchFamily="34" charset="0"/>
                <a:cs typeface="Times New Roman" panose="02020603050405020304" pitchFamily="18" charset="0"/>
              </a:rPr>
              <a:t>(25B11AI060)</a:t>
            </a:r>
            <a:endParaRPr sz="1500" b="1" dirty="0">
              <a:solidFill>
                <a:srgbClr val="274979"/>
              </a:solidFill>
              <a:latin typeface="Aptos Narrow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400"/>
              </a:spcAft>
            </a:pPr>
            <a:r>
              <a:rPr sz="1500" b="1" dirty="0">
                <a:solidFill>
                  <a:srgbClr val="274979"/>
                </a:solidFill>
                <a:latin typeface="Aptos Narrow" panose="020B0004020202020204" pitchFamily="34" charset="0"/>
                <a:cs typeface="Times New Roman" panose="02020603050405020304" pitchFamily="18" charset="0"/>
              </a:rPr>
              <a:t>3. </a:t>
            </a:r>
            <a:r>
              <a:rPr lang="en-US" sz="1500" b="1" dirty="0" err="1">
                <a:solidFill>
                  <a:srgbClr val="274979"/>
                </a:solidFill>
                <a:latin typeface="Aptos Narrow" panose="020B0004020202020204" pitchFamily="34" charset="0"/>
                <a:cs typeface="Times New Roman" panose="02020603050405020304" pitchFamily="18" charset="0"/>
              </a:rPr>
              <a:t>T.Bilva</a:t>
            </a:r>
            <a:r>
              <a:rPr lang="en-US" sz="1500" b="1" dirty="0">
                <a:solidFill>
                  <a:srgbClr val="274979"/>
                </a:solidFill>
                <a:latin typeface="Aptos Narrow" panose="020B0004020202020204" pitchFamily="34" charset="0"/>
                <a:cs typeface="Times New Roman" panose="02020603050405020304" pitchFamily="18" charset="0"/>
              </a:rPr>
              <a:t>(25B11AI133)</a:t>
            </a:r>
            <a:endParaRPr sz="1500" b="1" dirty="0">
              <a:solidFill>
                <a:srgbClr val="274979"/>
              </a:solidFill>
              <a:latin typeface="Aptos Narrow" panose="020B000402020202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400"/>
              </a:spcAft>
            </a:pPr>
            <a:r>
              <a:rPr sz="1500" b="1" dirty="0">
                <a:solidFill>
                  <a:srgbClr val="274979"/>
                </a:solidFill>
                <a:latin typeface="Aptos Narrow" panose="020B0004020202020204" pitchFamily="34" charset="0"/>
                <a:cs typeface="Times New Roman" panose="02020603050405020304" pitchFamily="18" charset="0"/>
              </a:rPr>
              <a:t>4.</a:t>
            </a:r>
            <a:r>
              <a:rPr lang="en-US" sz="1500" b="1" dirty="0">
                <a:solidFill>
                  <a:srgbClr val="274979"/>
                </a:solidFill>
                <a:latin typeface="Aptos Narrow" panose="020B0004020202020204" pitchFamily="34" charset="0"/>
                <a:cs typeface="Times New Roman" panose="02020603050405020304" pitchFamily="18" charset="0"/>
              </a:rPr>
              <a:t>T.Hemanth Kumar</a:t>
            </a:r>
            <a:r>
              <a:rPr lang="en-IN" sz="1500" b="1" dirty="0">
                <a:solidFill>
                  <a:srgbClr val="274979"/>
                </a:solidFill>
                <a:latin typeface="Aptos Narrow" panose="020B0004020202020204" pitchFamily="34" charset="0"/>
                <a:cs typeface="Times New Roman" panose="02020603050405020304" pitchFamily="18" charset="0"/>
              </a:rPr>
              <a:t> (25B11AIC01)</a:t>
            </a:r>
            <a:endParaRPr sz="1500" b="1" dirty="0">
              <a:solidFill>
                <a:srgbClr val="274979"/>
              </a:solidFill>
              <a:latin typeface="Aptos Narrow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88720" y="5989320"/>
            <a:ext cx="7680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D62F2F"/>
                </a:solidFill>
                <a:latin typeface="Georgia"/>
              </a:rPr>
              <a:t>Department of Artificial Intelligence &amp; Machine Learning</a:t>
            </a:r>
          </a:p>
        </p:txBody>
      </p:sp>
      <p:pic>
        <p:nvPicPr>
          <p:cNvPr id="10" name="Picture 9" descr="image6.jpg">
            <a:extLst>
              <a:ext uri="{FF2B5EF4-FFF2-40B4-BE49-F238E27FC236}">
                <a16:creationId xmlns:a16="http://schemas.microsoft.com/office/drawing/2014/main" id="{198EC9AE-799E-F806-818E-BBE21A1D6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417320" cy="51713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317178D-0FF1-6BE0-E69A-F9AF3FA16B94}"/>
              </a:ext>
            </a:extLst>
          </p:cNvPr>
          <p:cNvSpPr txBox="1"/>
          <p:nvPr/>
        </p:nvSpPr>
        <p:spPr>
          <a:xfrm>
            <a:off x="6365833" y="2977245"/>
            <a:ext cx="36695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Under The Guidance of:</a:t>
            </a:r>
          </a:p>
          <a:p>
            <a:r>
              <a:rPr lang="en-US" dirty="0"/>
              <a:t>         </a:t>
            </a:r>
            <a:r>
              <a:rPr lang="en-US" dirty="0" err="1">
                <a:latin typeface="Century Schoolbook" panose="02040604050505020304" pitchFamily="18" charset="0"/>
              </a:rPr>
              <a:t>Mrs.G.L.Narsamba</a:t>
            </a:r>
            <a:r>
              <a:rPr lang="en-US" dirty="0">
                <a:latin typeface="Century Schoolbook" panose="02040604050505020304" pitchFamily="18" charset="0"/>
              </a:rPr>
              <a:t> </a:t>
            </a:r>
            <a:r>
              <a:rPr lang="en-US" dirty="0" err="1">
                <a:latin typeface="Century Schoolbook" panose="02040604050505020304" pitchFamily="18" charset="0"/>
              </a:rPr>
              <a:t>Vanguri</a:t>
            </a:r>
            <a:endParaRPr lang="en-IN" dirty="0">
              <a:latin typeface="Century Schoolbook" panose="020406040505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4F70B25-205D-6A1F-CE43-FD70CF04073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20980" y="1257300"/>
            <a:ext cx="1488948" cy="1523575"/>
          </a:xfrm>
          <a:prstGeom prst="flowChartConnector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788920" y="310896"/>
            <a:ext cx="4526280" cy="502920"/>
          </a:xfrm>
          <a:prstGeom prst="roundRect">
            <a:avLst/>
          </a:prstGeom>
          <a:solidFill>
            <a:srgbClr val="FF6600"/>
          </a:solidFill>
          <a:ln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Georgia"/>
              </a:rPr>
              <a:t>ABSTRACT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325880"/>
            <a:ext cx="3977639" cy="5349240"/>
          </a:xfrm>
          <a:prstGeom prst="roundRect">
            <a:avLst/>
          </a:prstGeom>
          <a:solidFill>
            <a:srgbClr val="F7F8FA"/>
          </a:solidFill>
          <a:ln w="1397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274979"/>
                </a:solidFill>
                <a:latin typeface="Georgia"/>
              </a:rPr>
              <a:t>PRESENTATION OUTLINE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191919"/>
                </a:solidFill>
                <a:latin typeface="Georgia"/>
              </a:rPr>
              <a:t>1. Finalize title, objectives &amp; problem statement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191919"/>
                </a:solidFill>
                <a:latin typeface="Georgia"/>
              </a:rPr>
              <a:t>2. Identify entities &amp; attributes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191919"/>
                </a:solidFill>
                <a:latin typeface="Georgia"/>
              </a:rPr>
              <a:t>3. Design ER diagram &amp; relationships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191919"/>
                </a:solidFill>
                <a:latin typeface="Georgia"/>
              </a:rPr>
              <a:t>4. Prepare relational database schema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191919"/>
                </a:solidFill>
                <a:latin typeface="Georgia"/>
              </a:rPr>
              <a:t>5. Define Primary &amp; Foreign Keys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191919"/>
                </a:solidFill>
                <a:latin typeface="Georgia"/>
              </a:rPr>
              <a:t>6. Create GitHub repo &amp; responsibilities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191919"/>
                </a:solidFill>
                <a:latin typeface="Georgia"/>
              </a:rPr>
              <a:t>7. Database creation &amp; constraints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0" y="1325880"/>
            <a:ext cx="3977639" cy="5349240"/>
          </a:xfrm>
          <a:prstGeom prst="roundRect">
            <a:avLst/>
          </a:prstGeom>
          <a:solidFill>
            <a:srgbClr val="F7F8FA"/>
          </a:solidFill>
          <a:ln w="1397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274979"/>
                </a:solidFill>
                <a:latin typeface="Georgia"/>
              </a:rPr>
              <a:t>IMPLEMENTATION &amp; FINAL REVIEW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191919"/>
                </a:solidFill>
                <a:latin typeface="Georgia"/>
              </a:rPr>
              <a:t>8. Insert sample data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191919"/>
                </a:solidFill>
                <a:latin typeface="Georgia"/>
              </a:rPr>
              <a:t>9. DDL, DML &amp; DQL operations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191919"/>
                </a:solidFill>
                <a:latin typeface="Georgia"/>
              </a:rPr>
              <a:t>10. CRUD operations &amp; SQL queries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191919"/>
                </a:solidFill>
                <a:latin typeface="Georgia"/>
              </a:rPr>
              <a:t>11. Data integrity &amp; validation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191919"/>
                </a:solidFill>
                <a:latin typeface="Georgia"/>
              </a:rPr>
              <a:t>12. Project documentation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191919"/>
                </a:solidFill>
                <a:latin typeface="Georgia"/>
              </a:rPr>
              <a:t>13. Demonstrate &amp; present database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191919"/>
                </a:solidFill>
                <a:latin typeface="Georgia"/>
              </a:rPr>
              <a:t>14. 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7251192"/>
            <a:ext cx="9052560" cy="13716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98280" y="7278624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774"/>
                </a:solidFill>
              </a:rPr>
              <a:t>2</a:t>
            </a:r>
          </a:p>
        </p:txBody>
      </p:sp>
      <p:pic>
        <p:nvPicPr>
          <p:cNvPr id="8" name="Picture 7" descr="image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417320" cy="5171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788920" y="310896"/>
            <a:ext cx="4526280" cy="502920"/>
          </a:xfrm>
          <a:prstGeom prst="roundRect">
            <a:avLst/>
          </a:prstGeom>
          <a:solidFill>
            <a:srgbClr val="FF6600"/>
          </a:solidFill>
          <a:ln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Georgia"/>
              </a:rPr>
              <a:t>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4251960" cy="5349240"/>
          </a:xfrm>
          <a:prstGeom prst="roundRect">
            <a:avLst/>
          </a:prstGeom>
          <a:solidFill>
            <a:srgbClr val="F7F8FA"/>
          </a:solidFill>
          <a:ln w="1397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274979"/>
                </a:solidFill>
                <a:latin typeface="Georgia"/>
              </a:rPr>
              <a:t>PROBLEM STATEMENT</a:t>
            </a:r>
          </a:p>
          <a:p>
            <a:pPr algn="l">
              <a:spcBef>
                <a:spcPts val="400"/>
              </a:spcBef>
            </a:pPr>
            <a:r>
              <a:rPr sz="1350">
                <a:solidFill>
                  <a:srgbClr val="191919"/>
                </a:solidFill>
                <a:latin typeface="Georgia"/>
              </a:rPr>
              <a:t>Traditional shopping can be time-consuming and inconvenient.</a:t>
            </a:r>
          </a:p>
          <a:p>
            <a:pPr algn="l">
              <a:spcBef>
                <a:spcPts val="400"/>
              </a:spcBef>
            </a:pPr>
            <a:r>
              <a:rPr sz="1350">
                <a:solidFill>
                  <a:srgbClr val="191919"/>
                </a:solidFill>
                <a:latin typeface="Georgia"/>
              </a:rPr>
              <a:t>Finding and comparing products, prices and availability can be difficult.</a:t>
            </a:r>
          </a:p>
          <a:p>
            <a:pPr algn="l">
              <a:spcBef>
                <a:spcPts val="400"/>
              </a:spcBef>
            </a:pPr>
            <a:r>
              <a:rPr sz="1350">
                <a:solidFill>
                  <a:srgbClr val="191919"/>
                </a:solidFill>
                <a:latin typeface="Georgia"/>
              </a:rPr>
              <a:t>Managing customer, order, payment and delivery information manually is difficult.</a:t>
            </a:r>
          </a:p>
          <a:p>
            <a:pPr algn="l">
              <a:spcBef>
                <a:spcPts val="400"/>
              </a:spcBef>
            </a:pPr>
            <a:endParaRPr sz="1350">
              <a:solidFill>
                <a:srgbClr val="191919"/>
              </a:solidFill>
              <a:latin typeface="Georgia"/>
            </a:endParaRPr>
          </a:p>
          <a:p>
            <a:pPr algn="l">
              <a:spcBef>
                <a:spcPts val="400"/>
              </a:spcBef>
            </a:pPr>
            <a:r>
              <a:rPr sz="1350">
                <a:solidFill>
                  <a:srgbClr val="191919"/>
                </a:solidFill>
                <a:latin typeface="Georgia"/>
              </a:rPr>
              <a:t>OUR SOLUTION</a:t>
            </a:r>
          </a:p>
          <a:p>
            <a:pPr algn="l">
              <a:spcBef>
                <a:spcPts val="400"/>
              </a:spcBef>
            </a:pPr>
            <a:r>
              <a:rPr sz="1350">
                <a:solidFill>
                  <a:srgbClr val="191919"/>
                </a:solidFill>
                <a:latin typeface="Georgia"/>
              </a:rPr>
              <a:t>A centralized online shopping system that organizes the complete shopping process using a structured database.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12080" y="1325880"/>
            <a:ext cx="4251960" cy="5349240"/>
          </a:xfrm>
          <a:prstGeom prst="roundRect">
            <a:avLst/>
          </a:prstGeom>
          <a:solidFill>
            <a:srgbClr val="F7F8FA"/>
          </a:solidFill>
          <a:ln w="1397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274979"/>
                </a:solidFill>
                <a:latin typeface="Georgia"/>
              </a:rPr>
              <a:t>OBJECTIVES</a:t>
            </a:r>
          </a:p>
          <a:p>
            <a:pPr algn="l">
              <a:spcBef>
                <a:spcPts val="400"/>
              </a:spcBef>
            </a:pPr>
            <a:r>
              <a:rPr sz="1280">
                <a:solidFill>
                  <a:srgbClr val="191919"/>
                </a:solidFill>
                <a:latin typeface="Georgia"/>
              </a:rPr>
              <a:t>01  Easy shopping — Provide a convenient online shopping platform.</a:t>
            </a:r>
          </a:p>
          <a:p>
            <a:pPr algn="l">
              <a:spcBef>
                <a:spcPts val="400"/>
              </a:spcBef>
            </a:pPr>
            <a:r>
              <a:rPr sz="1280">
                <a:solidFill>
                  <a:srgbClr val="191919"/>
                </a:solidFill>
                <a:latin typeface="Georgia"/>
              </a:rPr>
              <a:t>02  Product access — Browse and search available products.</a:t>
            </a:r>
          </a:p>
          <a:p>
            <a:pPr algn="l">
              <a:spcBef>
                <a:spcPts val="400"/>
              </a:spcBef>
            </a:pPr>
            <a:r>
              <a:rPr sz="1280">
                <a:solidFill>
                  <a:srgbClr val="191919"/>
                </a:solidFill>
                <a:latin typeface="Georgia"/>
              </a:rPr>
              <a:t>03  Cart &amp; orders — Add products to cart and place orders.</a:t>
            </a:r>
          </a:p>
          <a:p>
            <a:pPr algn="l">
              <a:spcBef>
                <a:spcPts val="400"/>
              </a:spcBef>
            </a:pPr>
            <a:r>
              <a:rPr sz="1280">
                <a:solidFill>
                  <a:srgbClr val="191919"/>
                </a:solidFill>
                <a:latin typeface="Georgia"/>
              </a:rPr>
              <a:t>04  Data management — Maintain customer, product, category and order data.</a:t>
            </a:r>
          </a:p>
          <a:p>
            <a:pPr algn="l">
              <a:spcBef>
                <a:spcPts val="400"/>
              </a:spcBef>
            </a:pPr>
            <a:r>
              <a:rPr sz="1280">
                <a:solidFill>
                  <a:srgbClr val="191919"/>
                </a:solidFill>
                <a:latin typeface="Georgia"/>
              </a:rPr>
              <a:t>05  Payment &amp; delivery — Manage payment and delivery information.</a:t>
            </a:r>
          </a:p>
          <a:p>
            <a:pPr algn="l">
              <a:spcBef>
                <a:spcPts val="400"/>
              </a:spcBef>
            </a:pPr>
            <a:r>
              <a:rPr sz="1280">
                <a:solidFill>
                  <a:srgbClr val="191919"/>
                </a:solidFill>
                <a:latin typeface="Georgia"/>
              </a:rPr>
              <a:t>06  Data integrity — Use PKs, FKs and constraints for reliable data.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7251192"/>
            <a:ext cx="9052560" cy="13716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98280" y="7278624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774"/>
                </a:solidFill>
              </a:rPr>
              <a:t>3</a:t>
            </a:r>
          </a:p>
        </p:txBody>
      </p:sp>
      <p:pic>
        <p:nvPicPr>
          <p:cNvPr id="8" name="Picture 7" descr="image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417320" cy="5171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788920" y="310896"/>
            <a:ext cx="4526280" cy="502920"/>
          </a:xfrm>
          <a:prstGeom prst="roundRect">
            <a:avLst/>
          </a:prstGeom>
          <a:solidFill>
            <a:srgbClr val="FF6600"/>
          </a:solidFill>
          <a:ln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Georgia"/>
              </a:rPr>
              <a:t>ENTITIES &amp; ATTRIBUTES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4160520" cy="1051560"/>
          </a:xfrm>
          <a:prstGeom prst="roundRect">
            <a:avLst/>
          </a:prstGeom>
          <a:solidFill>
            <a:srgbClr val="F7F8FA"/>
          </a:solidFill>
          <a:ln w="1397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274979"/>
                </a:solidFill>
                <a:latin typeface="Georgia"/>
              </a:rPr>
              <a:t>CUSTOMER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191919"/>
                </a:solidFill>
                <a:latin typeface="Georgia"/>
              </a:rPr>
              <a:t>User information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0" y="1234440"/>
            <a:ext cx="4160520" cy="1051560"/>
          </a:xfrm>
          <a:prstGeom prst="roundRect">
            <a:avLst/>
          </a:prstGeom>
          <a:solidFill>
            <a:srgbClr val="F7F8FA"/>
          </a:solidFill>
          <a:ln w="1397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274979"/>
                </a:solidFill>
                <a:latin typeface="Georgia"/>
              </a:rPr>
              <a:t>CATEGORY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191919"/>
                </a:solidFill>
                <a:latin typeface="Georgia"/>
              </a:rPr>
              <a:t>Product grouping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4160520" cy="1051560"/>
          </a:xfrm>
          <a:prstGeom prst="roundRect">
            <a:avLst/>
          </a:prstGeom>
          <a:solidFill>
            <a:srgbClr val="F7F8FA"/>
          </a:solidFill>
          <a:ln w="1397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274979"/>
                </a:solidFill>
                <a:latin typeface="Georgia"/>
              </a:rPr>
              <a:t>PRODUCT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191919"/>
                </a:solidFill>
                <a:latin typeface="Georgia"/>
              </a:rPr>
              <a:t>Items for sale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2560320"/>
            <a:ext cx="4160520" cy="1051560"/>
          </a:xfrm>
          <a:prstGeom prst="roundRect">
            <a:avLst/>
          </a:prstGeom>
          <a:solidFill>
            <a:srgbClr val="F7F8FA"/>
          </a:solidFill>
          <a:ln w="1397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274979"/>
                </a:solidFill>
                <a:latin typeface="Georgia"/>
              </a:rPr>
              <a:t>CART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191919"/>
                </a:solidFill>
                <a:latin typeface="Georgia"/>
              </a:rPr>
              <a:t>Selected items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86200"/>
            <a:ext cx="4160520" cy="1051560"/>
          </a:xfrm>
          <a:prstGeom prst="roundRect">
            <a:avLst/>
          </a:prstGeom>
          <a:solidFill>
            <a:srgbClr val="F7F8FA"/>
          </a:solidFill>
          <a:ln w="1397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274979"/>
                </a:solidFill>
                <a:latin typeface="Georgia"/>
              </a:rPr>
              <a:t>ORDERS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191919"/>
                </a:solidFill>
                <a:latin typeface="Georgia"/>
              </a:rPr>
              <a:t>Placed purchases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3886200"/>
            <a:ext cx="4160520" cy="1051560"/>
          </a:xfrm>
          <a:prstGeom prst="roundRect">
            <a:avLst/>
          </a:prstGeom>
          <a:solidFill>
            <a:srgbClr val="F7F8FA"/>
          </a:solidFill>
          <a:ln w="1397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274979"/>
                </a:solidFill>
                <a:latin typeface="Georgia"/>
              </a:rPr>
              <a:t>ORDER_ITEM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191919"/>
                </a:solidFill>
                <a:latin typeface="Georgia"/>
              </a:rPr>
              <a:t>Products within an order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212079"/>
            <a:ext cx="4160520" cy="1051560"/>
          </a:xfrm>
          <a:prstGeom prst="roundRect">
            <a:avLst/>
          </a:prstGeom>
          <a:solidFill>
            <a:srgbClr val="F7F8FA"/>
          </a:solidFill>
          <a:ln w="1397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274979"/>
                </a:solidFill>
                <a:latin typeface="Georgia"/>
              </a:rPr>
              <a:t>PAYMENT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191919"/>
                </a:solidFill>
                <a:latin typeface="Georgia"/>
              </a:rPr>
              <a:t>Payment records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5212079"/>
            <a:ext cx="4160520" cy="1051560"/>
          </a:xfrm>
          <a:prstGeom prst="roundRect">
            <a:avLst/>
          </a:prstGeom>
          <a:solidFill>
            <a:srgbClr val="F7F8FA"/>
          </a:solidFill>
          <a:ln w="1397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274979"/>
                </a:solidFill>
                <a:latin typeface="Georgia"/>
              </a:rPr>
              <a:t>DELIVERY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191919"/>
                </a:solidFill>
                <a:latin typeface="Georgia"/>
              </a:rPr>
              <a:t>Delivery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6537960"/>
            <a:ext cx="6035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F6774"/>
                </a:solidFill>
                <a:latin typeface="Georgia"/>
              </a:rPr>
              <a:t>The 8 main objects our database needs to store.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7251192"/>
            <a:ext cx="9052560" cy="13716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98280" y="7278624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774"/>
                </a:solidFill>
              </a:rPr>
              <a:t>4</a:t>
            </a:r>
          </a:p>
        </p:txBody>
      </p:sp>
      <p:pic>
        <p:nvPicPr>
          <p:cNvPr id="15" name="Picture 14" descr="image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417320" cy="5171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788920" y="310896"/>
            <a:ext cx="4526280" cy="502920"/>
          </a:xfrm>
          <a:prstGeom prst="roundRect">
            <a:avLst/>
          </a:prstGeom>
          <a:solidFill>
            <a:srgbClr val="FF6600"/>
          </a:solidFill>
          <a:ln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Georgia"/>
              </a:rPr>
              <a:t>ER DIAGRAM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9052560" cy="5989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p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124712"/>
            <a:ext cx="8906256" cy="584301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7251192"/>
            <a:ext cx="9052560" cy="13716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98280" y="7278624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774"/>
                </a:solidFill>
              </a:rPr>
              <a:t>5</a:t>
            </a:r>
          </a:p>
        </p:txBody>
      </p:sp>
      <p:pic>
        <p:nvPicPr>
          <p:cNvPr id="8" name="Picture 7" descr="image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01168"/>
            <a:ext cx="1417320" cy="5171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788920" y="310896"/>
            <a:ext cx="4526280" cy="502920"/>
          </a:xfrm>
          <a:prstGeom prst="roundRect">
            <a:avLst/>
          </a:prstGeom>
          <a:solidFill>
            <a:srgbClr val="FF6600"/>
          </a:solidFill>
          <a:ln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Georgia"/>
              </a:rPr>
              <a:t>RELATIONAL DATABASE SCHEMA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4343400" cy="1078992"/>
          </a:xfrm>
          <a:prstGeom prst="roundRect">
            <a:avLst/>
          </a:prstGeom>
          <a:solidFill>
            <a:srgbClr val="F7F8FA"/>
          </a:solidFill>
          <a:ln w="1397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274979"/>
                </a:solidFill>
                <a:latin typeface="Georgia"/>
              </a:rPr>
              <a:t>CUSTOMER</a:t>
            </a:r>
          </a:p>
          <a:p>
            <a:pPr algn="l">
              <a:spcBef>
                <a:spcPts val="400"/>
              </a:spcBef>
            </a:pPr>
            <a:r>
              <a:rPr sz="1130">
                <a:solidFill>
                  <a:srgbClr val="191919"/>
                </a:solidFill>
                <a:latin typeface="Georgia"/>
              </a:rPr>
              <a:t>Customer_ID PK | Name | Email | Phone | Address | Password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74920" y="1051560"/>
            <a:ext cx="4343400" cy="1078992"/>
          </a:xfrm>
          <a:prstGeom prst="roundRect">
            <a:avLst/>
          </a:prstGeom>
          <a:solidFill>
            <a:srgbClr val="F7F8FA"/>
          </a:solidFill>
          <a:ln w="1397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274979"/>
                </a:solidFill>
                <a:latin typeface="Georgia"/>
              </a:rPr>
              <a:t>CATEGORY</a:t>
            </a:r>
          </a:p>
          <a:p>
            <a:pPr algn="l">
              <a:spcBef>
                <a:spcPts val="400"/>
              </a:spcBef>
            </a:pPr>
            <a:r>
              <a:rPr sz="1130">
                <a:solidFill>
                  <a:srgbClr val="191919"/>
                </a:solidFill>
                <a:latin typeface="Georgia"/>
              </a:rPr>
              <a:t>Category_ID PK | Category_Name | Description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77439"/>
            <a:ext cx="4343400" cy="1078992"/>
          </a:xfrm>
          <a:prstGeom prst="roundRect">
            <a:avLst/>
          </a:prstGeom>
          <a:solidFill>
            <a:srgbClr val="F7F8FA"/>
          </a:solidFill>
          <a:ln w="1397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274979"/>
                </a:solidFill>
                <a:latin typeface="Georgia"/>
              </a:rPr>
              <a:t>PRODUCT</a:t>
            </a:r>
          </a:p>
          <a:p>
            <a:pPr algn="l">
              <a:spcBef>
                <a:spcPts val="400"/>
              </a:spcBef>
            </a:pPr>
            <a:r>
              <a:rPr sz="1130">
                <a:solidFill>
                  <a:srgbClr val="191919"/>
                </a:solidFill>
                <a:latin typeface="Georgia"/>
              </a:rPr>
              <a:t>Product_ID PK | Product_Name | Price | Stock | Description | Category_ID FK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74920" y="2377439"/>
            <a:ext cx="4343400" cy="1078992"/>
          </a:xfrm>
          <a:prstGeom prst="roundRect">
            <a:avLst/>
          </a:prstGeom>
          <a:solidFill>
            <a:srgbClr val="F7F8FA"/>
          </a:solidFill>
          <a:ln w="1397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274979"/>
                </a:solidFill>
                <a:latin typeface="Georgia"/>
              </a:rPr>
              <a:t>CART</a:t>
            </a:r>
          </a:p>
          <a:p>
            <a:pPr algn="l">
              <a:spcBef>
                <a:spcPts val="400"/>
              </a:spcBef>
            </a:pPr>
            <a:r>
              <a:rPr sz="1130">
                <a:solidFill>
                  <a:srgbClr val="191919"/>
                </a:solidFill>
                <a:latin typeface="Georgia"/>
              </a:rPr>
              <a:t>Cart_ID PK | Customer_ID FK | Created_Date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703320"/>
            <a:ext cx="4343400" cy="1078992"/>
          </a:xfrm>
          <a:prstGeom prst="roundRect">
            <a:avLst/>
          </a:prstGeom>
          <a:solidFill>
            <a:srgbClr val="F7F8FA"/>
          </a:solidFill>
          <a:ln w="1397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274979"/>
                </a:solidFill>
                <a:latin typeface="Georgia"/>
              </a:rPr>
              <a:t>ORDERS</a:t>
            </a:r>
          </a:p>
          <a:p>
            <a:pPr algn="l">
              <a:spcBef>
                <a:spcPts val="400"/>
              </a:spcBef>
            </a:pPr>
            <a:r>
              <a:rPr sz="1130">
                <a:solidFill>
                  <a:srgbClr val="191919"/>
                </a:solidFill>
                <a:latin typeface="Georgia"/>
              </a:rPr>
              <a:t>Order_ID PK | Customer_ID FK | Order_Date | Total_Amount | Order_Status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74920" y="3703320"/>
            <a:ext cx="4343400" cy="1078992"/>
          </a:xfrm>
          <a:prstGeom prst="roundRect">
            <a:avLst/>
          </a:prstGeom>
          <a:solidFill>
            <a:srgbClr val="F7F8FA"/>
          </a:solidFill>
          <a:ln w="1397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274979"/>
                </a:solidFill>
                <a:latin typeface="Georgia"/>
              </a:rPr>
              <a:t>ORDER_ITEM</a:t>
            </a:r>
          </a:p>
          <a:p>
            <a:pPr algn="l">
              <a:spcBef>
                <a:spcPts val="400"/>
              </a:spcBef>
            </a:pPr>
            <a:r>
              <a:rPr sz="1130">
                <a:solidFill>
                  <a:srgbClr val="191919"/>
                </a:solidFill>
                <a:latin typeface="Georgia"/>
              </a:rPr>
              <a:t>Order_Item_ID PK | Order_ID FK | Product_ID FK | Quantity | Price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029200"/>
            <a:ext cx="4343400" cy="1078992"/>
          </a:xfrm>
          <a:prstGeom prst="roundRect">
            <a:avLst/>
          </a:prstGeom>
          <a:solidFill>
            <a:srgbClr val="F7F8FA"/>
          </a:solidFill>
          <a:ln w="1397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274979"/>
                </a:solidFill>
                <a:latin typeface="Georgia"/>
              </a:rPr>
              <a:t>PAYMENT</a:t>
            </a:r>
          </a:p>
          <a:p>
            <a:pPr algn="l">
              <a:spcBef>
                <a:spcPts val="400"/>
              </a:spcBef>
            </a:pPr>
            <a:r>
              <a:rPr sz="1130">
                <a:solidFill>
                  <a:srgbClr val="191919"/>
                </a:solidFill>
                <a:latin typeface="Georgia"/>
              </a:rPr>
              <a:t>Payment_ID PK | Order_ID FK | Payment_Date | Payment_Method | Payment_Status | Amount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4920" y="5029200"/>
            <a:ext cx="4343400" cy="1078992"/>
          </a:xfrm>
          <a:prstGeom prst="roundRect">
            <a:avLst/>
          </a:prstGeom>
          <a:solidFill>
            <a:srgbClr val="F7F8FA"/>
          </a:solidFill>
          <a:ln w="1397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274979"/>
                </a:solidFill>
                <a:latin typeface="Georgia"/>
              </a:rPr>
              <a:t>DELIVERY</a:t>
            </a:r>
          </a:p>
          <a:p>
            <a:pPr algn="l">
              <a:spcBef>
                <a:spcPts val="400"/>
              </a:spcBef>
            </a:pPr>
            <a:r>
              <a:rPr sz="1130">
                <a:solidFill>
                  <a:srgbClr val="191919"/>
                </a:solidFill>
                <a:latin typeface="Georgia"/>
              </a:rPr>
              <a:t>Delivery_ID PK | Order_ID FK | Delivery_Address | Delivery_Date | Delivery_Status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7251192"/>
            <a:ext cx="9052560" cy="13716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98280" y="7278624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774"/>
                </a:solidFill>
              </a:rPr>
              <a:t>6</a:t>
            </a:r>
          </a:p>
        </p:txBody>
      </p:sp>
      <p:pic>
        <p:nvPicPr>
          <p:cNvPr id="14" name="Picture 13" descr="image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417320" cy="5171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788920" y="310896"/>
            <a:ext cx="4526280" cy="502920"/>
          </a:xfrm>
          <a:prstGeom prst="roundRect">
            <a:avLst/>
          </a:prstGeom>
          <a:solidFill>
            <a:srgbClr val="FF6600"/>
          </a:solidFill>
          <a:ln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Georgia"/>
              </a:rPr>
              <a:t>PRIMARY &amp; FOREIGN KEYS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4160520" cy="5120640"/>
          </a:xfrm>
          <a:prstGeom prst="roundRect">
            <a:avLst/>
          </a:prstGeom>
          <a:solidFill>
            <a:srgbClr val="F7F8FA"/>
          </a:solidFill>
          <a:ln w="1397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274979"/>
                </a:solidFill>
                <a:latin typeface="Georgia"/>
              </a:rPr>
              <a:t>PRIMARY KEY (PK)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91919"/>
                </a:solidFill>
                <a:latin typeface="Georgia"/>
              </a:rPr>
              <a:t>Uniquely identifies each record.</a:t>
            </a:r>
          </a:p>
          <a:p>
            <a:pPr algn="l">
              <a:spcBef>
                <a:spcPts val="400"/>
              </a:spcBef>
            </a:pPr>
            <a:endParaRPr sz="1400">
              <a:solidFill>
                <a:srgbClr val="191919"/>
              </a:solidFill>
              <a:latin typeface="Georgia"/>
            </a:endParaRP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91919"/>
                </a:solidFill>
                <a:latin typeface="Georgia"/>
              </a:rPr>
              <a:t>Customer_ID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91919"/>
                </a:solidFill>
                <a:latin typeface="Georgia"/>
              </a:rPr>
              <a:t>Category_ID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91919"/>
                </a:solidFill>
                <a:latin typeface="Georgia"/>
              </a:rPr>
              <a:t>Product_ID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91919"/>
                </a:solidFill>
                <a:latin typeface="Georgia"/>
              </a:rPr>
              <a:t>Cart_ID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91919"/>
                </a:solidFill>
                <a:latin typeface="Georgia"/>
              </a:rPr>
              <a:t>Order_ID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91919"/>
                </a:solidFill>
                <a:latin typeface="Georgia"/>
              </a:rPr>
              <a:t>Order_Item_ID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91919"/>
                </a:solidFill>
                <a:latin typeface="Georgia"/>
              </a:rPr>
              <a:t>Payment_ID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91919"/>
                </a:solidFill>
                <a:latin typeface="Georgia"/>
              </a:rPr>
              <a:t>Delivery_ID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12080" y="1325880"/>
            <a:ext cx="4160520" cy="5120640"/>
          </a:xfrm>
          <a:prstGeom prst="roundRect">
            <a:avLst/>
          </a:prstGeom>
          <a:solidFill>
            <a:srgbClr val="F7F8FA"/>
          </a:solidFill>
          <a:ln w="1397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274979"/>
                </a:solidFill>
                <a:latin typeface="Georgia"/>
              </a:rPr>
              <a:t>FOREIGN KEY (FK)</a:t>
            </a:r>
          </a:p>
          <a:p>
            <a:pPr algn="l">
              <a:spcBef>
                <a:spcPts val="400"/>
              </a:spcBef>
            </a:pPr>
            <a:r>
              <a:rPr sz="1320">
                <a:solidFill>
                  <a:srgbClr val="191919"/>
                </a:solidFill>
                <a:latin typeface="Georgia"/>
              </a:rPr>
              <a:t>Connects one table to another table's primary key.</a:t>
            </a:r>
          </a:p>
          <a:p>
            <a:pPr algn="l">
              <a:spcBef>
                <a:spcPts val="400"/>
              </a:spcBef>
            </a:pPr>
            <a:endParaRPr sz="1320">
              <a:solidFill>
                <a:srgbClr val="191919"/>
              </a:solidFill>
              <a:latin typeface="Georgia"/>
            </a:endParaRPr>
          </a:p>
          <a:p>
            <a:pPr algn="l">
              <a:spcBef>
                <a:spcPts val="400"/>
              </a:spcBef>
            </a:pPr>
            <a:r>
              <a:rPr sz="1320">
                <a:solidFill>
                  <a:srgbClr val="191919"/>
                </a:solidFill>
                <a:latin typeface="Georgia"/>
              </a:rPr>
              <a:t>Product.Category_ID → Category.Category_ID</a:t>
            </a:r>
          </a:p>
          <a:p>
            <a:pPr algn="l">
              <a:spcBef>
                <a:spcPts val="400"/>
              </a:spcBef>
            </a:pPr>
            <a:r>
              <a:rPr sz="1320">
                <a:solidFill>
                  <a:srgbClr val="191919"/>
                </a:solidFill>
                <a:latin typeface="Georgia"/>
              </a:rPr>
              <a:t>Orders.Customer_ID → Customer.Customer_ID</a:t>
            </a:r>
          </a:p>
          <a:p>
            <a:pPr algn="l">
              <a:spcBef>
                <a:spcPts val="400"/>
              </a:spcBef>
            </a:pPr>
            <a:r>
              <a:rPr sz="1320">
                <a:solidFill>
                  <a:srgbClr val="191919"/>
                </a:solidFill>
                <a:latin typeface="Georgia"/>
              </a:rPr>
              <a:t>Order_Item.Order_ID → Orders.Order_ID</a:t>
            </a:r>
          </a:p>
          <a:p>
            <a:pPr algn="l">
              <a:spcBef>
                <a:spcPts val="400"/>
              </a:spcBef>
            </a:pPr>
            <a:r>
              <a:rPr sz="1320">
                <a:solidFill>
                  <a:srgbClr val="191919"/>
                </a:solidFill>
                <a:latin typeface="Georgia"/>
              </a:rPr>
              <a:t>Order_Item.Product_ID → Product.Product_ID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7251192"/>
            <a:ext cx="9052560" cy="13716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98280" y="7278624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774"/>
                </a:solidFill>
              </a:rPr>
              <a:t>7</a:t>
            </a:r>
          </a:p>
        </p:txBody>
      </p:sp>
      <p:pic>
        <p:nvPicPr>
          <p:cNvPr id="8" name="Picture 7" descr="image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417320" cy="5171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788920" y="310896"/>
            <a:ext cx="4526280" cy="502920"/>
          </a:xfrm>
          <a:prstGeom prst="roundRect">
            <a:avLst/>
          </a:prstGeom>
          <a:solidFill>
            <a:srgbClr val="FF6600"/>
          </a:solidFill>
          <a:ln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Georgia"/>
              </a:rPr>
              <a:t>GITHUB REPOSITORY &amp; TEAM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4114800" cy="4480560"/>
          </a:xfrm>
          <a:prstGeom prst="roundRect">
            <a:avLst/>
          </a:prstGeom>
          <a:solidFill>
            <a:srgbClr val="F7F8FA"/>
          </a:solidFill>
          <a:ln w="1397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274979"/>
                </a:solidFill>
                <a:latin typeface="Georgia"/>
              </a:rPr>
              <a:t>online-shopping-system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91919"/>
                </a:solidFill>
                <a:latin typeface="Georgia"/>
              </a:rPr>
              <a:t>Repository contents</a:t>
            </a:r>
          </a:p>
          <a:p>
            <a:pPr algn="l">
              <a:spcBef>
                <a:spcPts val="400"/>
              </a:spcBef>
            </a:pPr>
            <a:endParaRPr sz="1400">
              <a:solidFill>
                <a:srgbClr val="191919"/>
              </a:solidFill>
              <a:latin typeface="Georgia"/>
            </a:endParaRP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91919"/>
                </a:solidFill>
                <a:latin typeface="Georgia"/>
              </a:rPr>
              <a:t>ER diagram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91919"/>
                </a:solidFill>
                <a:latin typeface="Georgia"/>
              </a:rPr>
              <a:t>Schema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91919"/>
                </a:solidFill>
                <a:latin typeface="Georgia"/>
              </a:rPr>
              <a:t>Documentation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91919"/>
                </a:solidFill>
                <a:latin typeface="Georgia"/>
              </a:rPr>
              <a:t>SQL files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91919"/>
                </a:solidFill>
                <a:latin typeface="Georgia"/>
              </a:rPr>
              <a:t>Presentation</a:t>
            </a:r>
          </a:p>
          <a:p>
            <a:pPr algn="l">
              <a:spcBef>
                <a:spcPts val="400"/>
              </a:spcBef>
            </a:pPr>
            <a:endParaRPr sz="1400">
              <a:solidFill>
                <a:srgbClr val="191919"/>
              </a:solidFill>
              <a:latin typeface="Georgia"/>
            </a:endParaRP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91919"/>
                </a:solidFill>
                <a:latin typeface="Georgia"/>
              </a:rPr>
              <a:t>Team responsibilities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91919"/>
                </a:solidFill>
                <a:latin typeface="Georgia"/>
              </a:rPr>
              <a:t>Divide presentation sections according to each member's strengths.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57800" y="1417320"/>
            <a:ext cx="4114800" cy="4480560"/>
          </a:xfrm>
          <a:prstGeom prst="roundRect">
            <a:avLst/>
          </a:prstGeom>
          <a:solidFill>
            <a:srgbClr val="F7F8FA"/>
          </a:solidFill>
          <a:ln w="1397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274979"/>
                </a:solidFill>
                <a:latin typeface="Georgia"/>
              </a:rPr>
              <a:t>PROJECT VERSION CONTROL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91919"/>
                </a:solidFill>
                <a:latin typeface="Georgia"/>
              </a:rPr>
              <a:t>GitHub stores the project files and provides version control.</a:t>
            </a:r>
          </a:p>
          <a:p>
            <a:pPr algn="l">
              <a:spcBef>
                <a:spcPts val="400"/>
              </a:spcBef>
            </a:pPr>
            <a:endParaRPr sz="1400">
              <a:solidFill>
                <a:srgbClr val="191919"/>
              </a:solidFill>
              <a:latin typeface="Georgia"/>
            </a:endParaRP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91919"/>
                </a:solidFill>
                <a:latin typeface="Georgia"/>
              </a:rPr>
              <a:t>The repository contains the ER diagram, relational schema, SQL scripts and presentation materials.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7251192"/>
            <a:ext cx="9052560" cy="13716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98280" y="7278624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774"/>
                </a:solidFill>
              </a:rPr>
              <a:t>8</a:t>
            </a:r>
          </a:p>
        </p:txBody>
      </p:sp>
      <p:pic>
        <p:nvPicPr>
          <p:cNvPr id="8" name="Picture 7" descr="image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417320" cy="5171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788920" y="310896"/>
            <a:ext cx="4526280" cy="502920"/>
          </a:xfrm>
          <a:prstGeom prst="roundRect">
            <a:avLst/>
          </a:prstGeom>
          <a:solidFill>
            <a:srgbClr val="FF6600"/>
          </a:solidFill>
          <a:ln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Georgia"/>
              </a:rPr>
              <a:t>DATABASE &amp; CONSTRAINTS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4251960" cy="5303520"/>
          </a:xfrm>
          <a:prstGeom prst="roundRect">
            <a:avLst/>
          </a:prstGeom>
          <a:solidFill>
            <a:srgbClr val="F7F8FA"/>
          </a:solidFill>
          <a:ln w="1397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dirty="0">
                <a:solidFill>
                  <a:srgbClr val="274979"/>
                </a:solidFill>
                <a:latin typeface="Georgia"/>
              </a:rPr>
              <a:t>DATABASE</a:t>
            </a:r>
          </a:p>
          <a:p>
            <a:pPr algn="l">
              <a:spcBef>
                <a:spcPts val="400"/>
              </a:spcBef>
            </a:pPr>
            <a:r>
              <a:rPr sz="1400" dirty="0">
                <a:solidFill>
                  <a:srgbClr val="191919"/>
                </a:solidFill>
                <a:latin typeface="Georgia"/>
              </a:rPr>
              <a:t>Database: </a:t>
            </a:r>
            <a:r>
              <a:rPr sz="1400" dirty="0" err="1">
                <a:solidFill>
                  <a:srgbClr val="191919"/>
                </a:solidFill>
                <a:latin typeface="Georgia"/>
              </a:rPr>
              <a:t>online_shopping</a:t>
            </a:r>
            <a:endParaRPr sz="1400" dirty="0">
              <a:solidFill>
                <a:srgbClr val="191919"/>
              </a:solidFill>
              <a:latin typeface="Georgia"/>
            </a:endParaRPr>
          </a:p>
          <a:p>
            <a:pPr algn="l">
              <a:spcBef>
                <a:spcPts val="400"/>
              </a:spcBef>
            </a:pPr>
            <a:endParaRPr sz="1400" dirty="0">
              <a:solidFill>
                <a:srgbClr val="191919"/>
              </a:solidFill>
              <a:latin typeface="Georgia"/>
            </a:endParaRPr>
          </a:p>
          <a:p>
            <a:pPr algn="l">
              <a:spcBef>
                <a:spcPts val="400"/>
              </a:spcBef>
            </a:pPr>
            <a:r>
              <a:rPr sz="1400" dirty="0">
                <a:solidFill>
                  <a:srgbClr val="191919"/>
                </a:solidFill>
                <a:latin typeface="Georgia"/>
              </a:rPr>
              <a:t>8 tables created:</a:t>
            </a:r>
          </a:p>
          <a:p>
            <a:pPr algn="l">
              <a:spcBef>
                <a:spcPts val="400"/>
              </a:spcBef>
            </a:pPr>
            <a:r>
              <a:rPr sz="1400" dirty="0">
                <a:solidFill>
                  <a:srgbClr val="191919"/>
                </a:solidFill>
                <a:latin typeface="Georgia"/>
              </a:rPr>
              <a:t>CUSTOMER • CATEGORY • PRODUCT • CART</a:t>
            </a:r>
          </a:p>
          <a:p>
            <a:pPr algn="l">
              <a:spcBef>
                <a:spcPts val="400"/>
              </a:spcBef>
            </a:pPr>
            <a:r>
              <a:rPr sz="1400" dirty="0">
                <a:solidFill>
                  <a:srgbClr val="191919"/>
                </a:solidFill>
                <a:latin typeface="Georgia"/>
              </a:rPr>
              <a:t>ORDERS • ORDER_ITEM • PAYMENT • DELIVERY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12080" y="1280160"/>
            <a:ext cx="4251960" cy="5303520"/>
          </a:xfrm>
          <a:prstGeom prst="roundRect">
            <a:avLst/>
          </a:prstGeom>
          <a:solidFill>
            <a:srgbClr val="F7F8FA"/>
          </a:solidFill>
          <a:ln w="1397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274979"/>
                </a:solidFill>
                <a:latin typeface="Georgia"/>
              </a:rPr>
              <a:t>CONSTRAINTS</a:t>
            </a:r>
          </a:p>
          <a:p>
            <a:pPr algn="l">
              <a:spcBef>
                <a:spcPts val="400"/>
              </a:spcBef>
            </a:pPr>
            <a:r>
              <a:rPr sz="1350">
                <a:solidFill>
                  <a:srgbClr val="191919"/>
                </a:solidFill>
                <a:latin typeface="Georgia"/>
              </a:rPr>
              <a:t>PRIMARY KEY — unique record identification</a:t>
            </a:r>
          </a:p>
          <a:p>
            <a:pPr algn="l">
              <a:spcBef>
                <a:spcPts val="400"/>
              </a:spcBef>
            </a:pPr>
            <a:r>
              <a:rPr sz="1350">
                <a:solidFill>
                  <a:srgbClr val="191919"/>
                </a:solidFill>
                <a:latin typeface="Georgia"/>
              </a:rPr>
              <a:t>FOREIGN KEY — connects related tables</a:t>
            </a:r>
          </a:p>
          <a:p>
            <a:pPr algn="l">
              <a:spcBef>
                <a:spcPts val="400"/>
              </a:spcBef>
            </a:pPr>
            <a:r>
              <a:rPr sz="1350">
                <a:solidFill>
                  <a:srgbClr val="191919"/>
                </a:solidFill>
                <a:latin typeface="Georgia"/>
              </a:rPr>
              <a:t>NOT NULL — required values</a:t>
            </a:r>
          </a:p>
          <a:p>
            <a:pPr algn="l">
              <a:spcBef>
                <a:spcPts val="400"/>
              </a:spcBef>
            </a:pPr>
            <a:r>
              <a:rPr sz="1350">
                <a:solidFill>
                  <a:srgbClr val="191919"/>
                </a:solidFill>
                <a:latin typeface="Georgia"/>
              </a:rPr>
              <a:t>UNIQUE — prevents duplicate email values</a:t>
            </a:r>
          </a:p>
          <a:p>
            <a:pPr algn="l">
              <a:spcBef>
                <a:spcPts val="400"/>
              </a:spcBef>
            </a:pPr>
            <a:r>
              <a:rPr sz="1350">
                <a:solidFill>
                  <a:srgbClr val="191919"/>
                </a:solidFill>
                <a:latin typeface="Georgia"/>
              </a:rPr>
              <a:t>CHECK — validates numeric values</a:t>
            </a:r>
          </a:p>
          <a:p>
            <a:pPr algn="l">
              <a:spcBef>
                <a:spcPts val="400"/>
              </a:spcBef>
            </a:pPr>
            <a:r>
              <a:rPr sz="1350">
                <a:solidFill>
                  <a:srgbClr val="191919"/>
                </a:solidFill>
                <a:latin typeface="Georgia"/>
              </a:rPr>
              <a:t>DEFAULT — supplies selected default values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7251192"/>
            <a:ext cx="9052560" cy="13716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98280" y="7278624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774"/>
                </a:solidFill>
              </a:rPr>
              <a:t>9</a:t>
            </a:r>
          </a:p>
        </p:txBody>
      </p:sp>
      <p:pic>
        <p:nvPicPr>
          <p:cNvPr id="8" name="Picture 7" descr="image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417320" cy="5171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788920" y="310896"/>
            <a:ext cx="4526280" cy="502920"/>
          </a:xfrm>
          <a:prstGeom prst="roundRect">
            <a:avLst/>
          </a:prstGeom>
          <a:solidFill>
            <a:srgbClr val="FF6600"/>
          </a:solidFill>
          <a:ln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Georgia"/>
              </a:rPr>
              <a:t>SAMPLE DATA INSERTION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7251192"/>
            <a:ext cx="9052560" cy="13716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098280" y="7278624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774"/>
                </a:solidFill>
              </a:rPr>
              <a:t>10</a:t>
            </a:r>
          </a:p>
        </p:txBody>
      </p:sp>
      <p:pic>
        <p:nvPicPr>
          <p:cNvPr id="12" name="Picture 11" descr="image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417320" cy="51713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5932A78-313C-8D4A-BACF-EA24DE9B6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417" y="2148364"/>
            <a:ext cx="9160034" cy="128027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EC99E46-35DA-8BD8-4EFD-461ACEB67202}"/>
              </a:ext>
            </a:extLst>
          </p:cNvPr>
          <p:cNvSpPr txBox="1"/>
          <p:nvPr/>
        </p:nvSpPr>
        <p:spPr>
          <a:xfrm>
            <a:off x="-2357120" y="1507351"/>
            <a:ext cx="102412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5A646E"/>
                </a:solidFill>
              </a:defRPr>
            </a:pPr>
            <a:r>
              <a:rPr sz="1500" dirty="0">
                <a:latin typeface="Britannic Bold" panose="020B0903060703020204" pitchFamily="34" charset="0"/>
              </a:rPr>
              <a:t>Sample records inserted into </a:t>
            </a:r>
            <a:r>
              <a:rPr lang="en-IN" sz="1500" dirty="0">
                <a:latin typeface="Britannic Bold" panose="020B0903060703020204" pitchFamily="34" charset="0"/>
              </a:rPr>
              <a:t>the </a:t>
            </a:r>
            <a:r>
              <a:rPr sz="1500" dirty="0">
                <a:latin typeface="Britannic Bold" panose="020B0903060703020204" pitchFamily="34" charset="0"/>
              </a:rPr>
              <a:t>tables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915ED2F-E903-DC9D-9779-CE8ABBE738A5}"/>
              </a:ext>
            </a:extLst>
          </p:cNvPr>
          <p:cNvSpPr txBox="1"/>
          <p:nvPr/>
        </p:nvSpPr>
        <p:spPr>
          <a:xfrm>
            <a:off x="766417" y="3694046"/>
            <a:ext cx="8341360" cy="913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D3741"/>
                </a:solidFill>
              </a:defRPr>
            </a:pPr>
            <a:r>
              <a:rPr dirty="0"/>
              <a:t>Query :</a:t>
            </a:r>
            <a:r>
              <a:rPr lang="en-IN" dirty="0"/>
              <a:t>     SELECT * FROM CUSTOMER;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2D3741"/>
                </a:solidFill>
              </a:defRPr>
            </a:pPr>
            <a:endParaRPr dirty="0"/>
          </a:p>
          <a:p>
            <a:pPr algn="l">
              <a:spcAft>
                <a:spcPts val="500"/>
              </a:spcAft>
              <a:defRPr sz="1500" b="0">
                <a:solidFill>
                  <a:srgbClr val="2D3741"/>
                </a:solidFill>
              </a:defRPr>
            </a:pPr>
            <a:r>
              <a:rPr dirty="0"/>
              <a:t>Output</a:t>
            </a:r>
            <a:r>
              <a:rPr lang="en-IN" dirty="0"/>
              <a:t>:</a:t>
            </a:r>
            <a:endParaRPr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3A43EEB-10EF-8F65-6AA0-74FFCF06E2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658" y="4763872"/>
            <a:ext cx="8923793" cy="192040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788920" y="310896"/>
            <a:ext cx="4526280" cy="502920"/>
          </a:xfrm>
          <a:prstGeom prst="roundRect">
            <a:avLst/>
          </a:prstGeom>
          <a:solidFill>
            <a:srgbClr val="FF6600"/>
          </a:solidFill>
          <a:ln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Georgia"/>
              </a:rPr>
              <a:t>DDL, DML &amp; DQL OPERATIONS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2834640" cy="1828800"/>
          </a:xfrm>
          <a:prstGeom prst="roundRect">
            <a:avLst/>
          </a:prstGeom>
          <a:solidFill>
            <a:srgbClr val="F7F8FA"/>
          </a:solidFill>
          <a:ln w="1397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274979"/>
                </a:solidFill>
                <a:latin typeface="Georgia"/>
              </a:rPr>
              <a:t>DDL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191919"/>
                </a:solidFill>
                <a:latin typeface="Georgia"/>
              </a:rPr>
              <a:t>CREATE — create database objects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191919"/>
                </a:solidFill>
                <a:latin typeface="Georgia"/>
              </a:rPr>
              <a:t>ALTER — modify table structure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191919"/>
                </a:solidFill>
                <a:latin typeface="Georgia"/>
              </a:rPr>
              <a:t>DROP — remove a demonstration object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11880" y="1143000"/>
            <a:ext cx="2834640" cy="1828800"/>
          </a:xfrm>
          <a:prstGeom prst="roundRect">
            <a:avLst/>
          </a:prstGeom>
          <a:solidFill>
            <a:srgbClr val="F7F8FA"/>
          </a:solidFill>
          <a:ln w="1397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274979"/>
                </a:solidFill>
                <a:latin typeface="Georgia"/>
              </a:rPr>
              <a:t>DML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191919"/>
                </a:solidFill>
                <a:latin typeface="Georgia"/>
              </a:rPr>
              <a:t>INSERT — add records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191919"/>
                </a:solidFill>
                <a:latin typeface="Georgia"/>
              </a:rPr>
              <a:t>UPDATE — modify records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191919"/>
                </a:solidFill>
                <a:latin typeface="Georgia"/>
              </a:rPr>
              <a:t>DELETE — remove records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20840" y="1143000"/>
            <a:ext cx="2834640" cy="1828800"/>
          </a:xfrm>
          <a:prstGeom prst="roundRect">
            <a:avLst/>
          </a:prstGeom>
          <a:solidFill>
            <a:srgbClr val="F7F8FA"/>
          </a:solidFill>
          <a:ln w="1397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274979"/>
                </a:solidFill>
                <a:latin typeface="Georgia"/>
              </a:rPr>
              <a:t>DQL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191919"/>
                </a:solidFill>
                <a:latin typeface="Georgia"/>
              </a:rPr>
              <a:t>SELECT — retrieve records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191919"/>
                </a:solidFill>
                <a:latin typeface="Georgia"/>
              </a:rPr>
              <a:t>WHERE — filter records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191919"/>
                </a:solidFill>
                <a:latin typeface="Georgia"/>
              </a:rPr>
              <a:t>ORDER BY — sort results</a:t>
            </a:r>
          </a:p>
        </p:txBody>
      </p:sp>
      <p:pic>
        <p:nvPicPr>
          <p:cNvPr id="8" name="Picture 7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3" y="3483864"/>
            <a:ext cx="4059935" cy="2002536"/>
          </a:xfrm>
          <a:prstGeom prst="rect">
            <a:avLst/>
          </a:prstGeom>
        </p:spPr>
      </p:pic>
      <p:pic>
        <p:nvPicPr>
          <p:cNvPr id="10" name="Picture 9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5232" y="3483864"/>
            <a:ext cx="4059935" cy="200253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02920" y="7251192"/>
            <a:ext cx="9052560" cy="13716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98280" y="7278624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774"/>
                </a:solidFill>
              </a:rPr>
              <a:t>11</a:t>
            </a:r>
          </a:p>
        </p:txBody>
      </p:sp>
      <p:pic>
        <p:nvPicPr>
          <p:cNvPr id="14" name="Picture 13" descr="image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201168"/>
            <a:ext cx="1417320" cy="5171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788920" y="310896"/>
            <a:ext cx="4526280" cy="502920"/>
          </a:xfrm>
          <a:prstGeom prst="roundRect">
            <a:avLst/>
          </a:prstGeom>
          <a:solidFill>
            <a:srgbClr val="FF6600"/>
          </a:solidFill>
          <a:ln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Georgia"/>
              </a:rPr>
              <a:t>CRUD &amp; SQL QUERIES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3657600" cy="2011680"/>
          </a:xfrm>
          <a:prstGeom prst="roundRect">
            <a:avLst/>
          </a:prstGeom>
          <a:solidFill>
            <a:srgbClr val="F7F8FA"/>
          </a:solidFill>
          <a:ln w="1397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274979"/>
                </a:solidFill>
                <a:latin typeface="Georgia"/>
              </a:rPr>
              <a:t>CRUD OPERATIONS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191919"/>
                </a:solidFill>
                <a:latin typeface="Georgia"/>
              </a:rPr>
              <a:t>CREATE → INSERT → Add records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191919"/>
                </a:solidFill>
                <a:latin typeface="Georgia"/>
              </a:rPr>
              <a:t>READ → SELECT → View records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191919"/>
                </a:solidFill>
                <a:latin typeface="Georgia"/>
              </a:rPr>
              <a:t>UPDATE → UPDATE → Modify records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191919"/>
                </a:solidFill>
                <a:latin typeface="Georgia"/>
              </a:rPr>
              <a:t>DELETE → DELETE → Remove records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051560"/>
            <a:ext cx="5166360" cy="2011680"/>
          </a:xfrm>
          <a:prstGeom prst="roundRect">
            <a:avLst/>
          </a:prstGeom>
          <a:solidFill>
            <a:srgbClr val="F7F8FA"/>
          </a:solidFill>
          <a:ln w="1397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274979"/>
                </a:solidFill>
                <a:latin typeface="Georgia"/>
              </a:rPr>
              <a:t>SQL QUERIES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191919"/>
                </a:solidFill>
                <a:latin typeface="Georgia"/>
              </a:rPr>
              <a:t>WHERE — filter data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191919"/>
                </a:solidFill>
                <a:latin typeface="Georgia"/>
              </a:rPr>
              <a:t>ORDER BY — sort results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191919"/>
                </a:solidFill>
                <a:latin typeface="Georgia"/>
              </a:rPr>
              <a:t>JOIN — combine related tables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191919"/>
                </a:solidFill>
                <a:latin typeface="Georgia"/>
              </a:rPr>
              <a:t>Aggregate functions — COUNT, SUM, AVG, MAX,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429000"/>
            <a:ext cx="43891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3502152"/>
            <a:ext cx="4242816" cy="136245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120640" y="3429000"/>
            <a:ext cx="43891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3792" y="3502152"/>
            <a:ext cx="4242816" cy="136245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48640" y="5166360"/>
            <a:ext cx="43891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5239512"/>
            <a:ext cx="4242816" cy="104241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120640" y="5166360"/>
            <a:ext cx="43891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3792" y="5239512"/>
            <a:ext cx="4242816" cy="1042416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502920" y="7251192"/>
            <a:ext cx="9052560" cy="13716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98280" y="7278624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774"/>
                </a:solidFill>
              </a:rPr>
              <a:t>12</a:t>
            </a:r>
          </a:p>
        </p:txBody>
      </p:sp>
      <p:pic>
        <p:nvPicPr>
          <p:cNvPr id="16" name="Picture 15" descr="image6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2608" y="201168"/>
            <a:ext cx="1417320" cy="51713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788920" y="310896"/>
            <a:ext cx="4526280" cy="502920"/>
          </a:xfrm>
          <a:prstGeom prst="roundRect">
            <a:avLst/>
          </a:prstGeom>
          <a:solidFill>
            <a:srgbClr val="FF6600"/>
          </a:solidFill>
          <a:ln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Georgia"/>
              </a:rPr>
              <a:t>JOIN &amp; AGGREGATE QUERIES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43000"/>
            <a:ext cx="4114800" cy="1920240"/>
          </a:xfrm>
          <a:prstGeom prst="roundRect">
            <a:avLst/>
          </a:prstGeom>
          <a:solidFill>
            <a:srgbClr val="F7F8FA"/>
          </a:solidFill>
          <a:ln w="1397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274979"/>
                </a:solidFill>
                <a:latin typeface="Georgia"/>
              </a:rPr>
              <a:t>JOIN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191919"/>
                </a:solidFill>
                <a:latin typeface="Georgia"/>
              </a:rPr>
              <a:t>Combines related data from CUSTOMER and ORDERS.</a:t>
            </a:r>
          </a:p>
          <a:p>
            <a:pPr algn="l">
              <a:spcBef>
                <a:spcPts val="400"/>
              </a:spcBef>
            </a:pPr>
            <a:endParaRPr sz="1150">
              <a:solidFill>
                <a:srgbClr val="191919"/>
              </a:solidFill>
              <a:latin typeface="Georgia"/>
            </a:endParaRP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191919"/>
                </a:solidFill>
                <a:latin typeface="Georgia"/>
              </a:rPr>
              <a:t>SELECT c.Name, o.Order_ID, o.Total_Amount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191919"/>
                </a:solidFill>
                <a:latin typeface="Georgia"/>
              </a:rPr>
              <a:t>FROM CUSTOMER c JOIN ORDERS o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191919"/>
                </a:solidFill>
                <a:latin typeface="Georgia"/>
              </a:rPr>
              <a:t>ON c.Customer_ID = o.Customer_ID;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12080" y="1143000"/>
            <a:ext cx="4114800" cy="1920240"/>
          </a:xfrm>
          <a:prstGeom prst="roundRect">
            <a:avLst/>
          </a:prstGeom>
          <a:solidFill>
            <a:srgbClr val="F7F8FA"/>
          </a:solidFill>
          <a:ln w="1397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274979"/>
                </a:solidFill>
                <a:latin typeface="Georgia"/>
              </a:rPr>
              <a:t>AGGREGATE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191919"/>
                </a:solidFill>
                <a:latin typeface="Georgia"/>
              </a:rPr>
              <a:t>Summarizes data using COUNT and GROUP BY.</a:t>
            </a:r>
          </a:p>
          <a:p>
            <a:pPr algn="l">
              <a:spcBef>
                <a:spcPts val="400"/>
              </a:spcBef>
            </a:pPr>
            <a:endParaRPr sz="1250">
              <a:solidFill>
                <a:srgbClr val="191919"/>
              </a:solidFill>
              <a:latin typeface="Georgia"/>
            </a:endParaRP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191919"/>
                </a:solidFill>
                <a:latin typeface="Georgia"/>
              </a:rPr>
              <a:t>Other functions: SUM() • AVG() • MAX() • MIN() • COUNT()</a:t>
            </a:r>
          </a:p>
        </p:txBody>
      </p:sp>
      <p:pic>
        <p:nvPicPr>
          <p:cNvPr id="7" name="Picture 6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" y="3607802"/>
            <a:ext cx="4105656" cy="2596896"/>
          </a:xfrm>
          <a:prstGeom prst="rect">
            <a:avLst/>
          </a:prstGeom>
        </p:spPr>
      </p:pic>
      <p:pic>
        <p:nvPicPr>
          <p:cNvPr id="9" name="Picture 8" descr="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2372" y="3607802"/>
            <a:ext cx="4105656" cy="259689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2920" y="7251192"/>
            <a:ext cx="9052560" cy="13716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098280" y="7278624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774"/>
                </a:solidFill>
              </a:rPr>
              <a:t>13</a:t>
            </a:r>
          </a:p>
        </p:txBody>
      </p:sp>
      <p:pic>
        <p:nvPicPr>
          <p:cNvPr id="12" name="Picture 11" descr="image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201168"/>
            <a:ext cx="1417320" cy="51713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788920" y="310896"/>
            <a:ext cx="4526280" cy="502920"/>
          </a:xfrm>
          <a:prstGeom prst="roundRect">
            <a:avLst/>
          </a:prstGeom>
          <a:solidFill>
            <a:srgbClr val="FF6600"/>
          </a:solidFill>
          <a:ln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Georgia"/>
              </a:rPr>
              <a:t>DATA INTEGRITY &amp; VALIDATION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97280"/>
            <a:ext cx="4160520" cy="1579659"/>
          </a:xfrm>
          <a:prstGeom prst="roundRect">
            <a:avLst/>
          </a:prstGeom>
          <a:solidFill>
            <a:srgbClr val="F7F8FA"/>
          </a:solidFill>
          <a:ln w="1397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274979"/>
                </a:solidFill>
                <a:latin typeface="Georgia"/>
              </a:rPr>
              <a:t>PRIMARY &amp; FOREIGN KEYS</a:t>
            </a:r>
          </a:p>
          <a:p>
            <a:pPr algn="l">
              <a:spcBef>
                <a:spcPts val="400"/>
              </a:spcBef>
            </a:pPr>
            <a:r>
              <a:rPr sz="1350">
                <a:solidFill>
                  <a:srgbClr val="191919"/>
                </a:solidFill>
                <a:latin typeface="Georgia"/>
              </a:rPr>
              <a:t>PK uniquely identifies each record.</a:t>
            </a:r>
          </a:p>
          <a:p>
            <a:pPr algn="l">
              <a:spcBef>
                <a:spcPts val="400"/>
              </a:spcBef>
            </a:pPr>
            <a:r>
              <a:rPr sz="1350">
                <a:solidFill>
                  <a:srgbClr val="191919"/>
                </a:solidFill>
                <a:latin typeface="Georgia"/>
              </a:rPr>
              <a:t>FK prevents invalid references between related tables.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74920" y="1097280"/>
            <a:ext cx="4160520" cy="1579659"/>
          </a:xfrm>
          <a:prstGeom prst="roundRect">
            <a:avLst/>
          </a:prstGeom>
          <a:solidFill>
            <a:srgbClr val="F7F8FA"/>
          </a:solidFill>
          <a:ln w="1397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dirty="0">
                <a:solidFill>
                  <a:srgbClr val="274979"/>
                </a:solidFill>
                <a:latin typeface="Georgia"/>
              </a:rPr>
              <a:t>VALIDATION</a:t>
            </a:r>
          </a:p>
          <a:p>
            <a:pPr algn="l">
              <a:spcBef>
                <a:spcPts val="400"/>
              </a:spcBef>
            </a:pPr>
            <a:r>
              <a:rPr sz="1220" dirty="0">
                <a:solidFill>
                  <a:srgbClr val="191919"/>
                </a:solidFill>
                <a:latin typeface="Georgia"/>
              </a:rPr>
              <a:t>NOT NULL prevents missing required values.</a:t>
            </a:r>
          </a:p>
          <a:p>
            <a:pPr algn="l">
              <a:spcBef>
                <a:spcPts val="400"/>
              </a:spcBef>
            </a:pPr>
            <a:r>
              <a:rPr sz="1220" dirty="0">
                <a:solidFill>
                  <a:srgbClr val="191919"/>
                </a:solidFill>
                <a:latin typeface="Georgia"/>
              </a:rPr>
              <a:t>UNIQUE prevents duplicate customer email.</a:t>
            </a:r>
          </a:p>
          <a:p>
            <a:pPr algn="l">
              <a:spcBef>
                <a:spcPts val="400"/>
              </a:spcBef>
            </a:pPr>
            <a:r>
              <a:rPr sz="1220" dirty="0">
                <a:solidFill>
                  <a:srgbClr val="191919"/>
                </a:solidFill>
                <a:latin typeface="Georgia"/>
              </a:rPr>
              <a:t>CHECK validates numeric values.</a:t>
            </a:r>
          </a:p>
          <a:p>
            <a:pPr algn="l">
              <a:spcBef>
                <a:spcPts val="400"/>
              </a:spcBef>
            </a:pPr>
            <a:r>
              <a:rPr sz="1220" dirty="0">
                <a:solidFill>
                  <a:srgbClr val="191919"/>
                </a:solidFill>
                <a:latin typeface="Georgia"/>
              </a:rPr>
              <a:t>DEFAULT supplies selected default values.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26820" y="3107560"/>
            <a:ext cx="4160520" cy="1579659"/>
          </a:xfrm>
          <a:prstGeom prst="roundRect">
            <a:avLst/>
          </a:prstGeom>
          <a:solidFill>
            <a:srgbClr val="F7F8FA"/>
          </a:solidFill>
          <a:ln w="1397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dirty="0">
                <a:solidFill>
                  <a:srgbClr val="274979"/>
                </a:solidFill>
                <a:latin typeface="Georgia"/>
              </a:rPr>
              <a:t>TEST CASES</a:t>
            </a:r>
          </a:p>
          <a:p>
            <a:pPr algn="l">
              <a:spcBef>
                <a:spcPts val="400"/>
              </a:spcBef>
            </a:pPr>
            <a:r>
              <a:rPr sz="1400" dirty="0">
                <a:solidFill>
                  <a:srgbClr val="191919"/>
                </a:solidFill>
                <a:latin typeface="Georgia"/>
              </a:rPr>
              <a:t>✓ Valid insertion</a:t>
            </a:r>
          </a:p>
          <a:p>
            <a:pPr algn="l">
              <a:spcBef>
                <a:spcPts val="400"/>
              </a:spcBef>
            </a:pPr>
            <a:r>
              <a:rPr sz="1400" dirty="0">
                <a:solidFill>
                  <a:srgbClr val="191919"/>
                </a:solidFill>
                <a:latin typeface="Georgia"/>
              </a:rPr>
              <a:t>✗ Duplicate email test — rejected</a:t>
            </a:r>
          </a:p>
          <a:p>
            <a:pPr algn="l">
              <a:spcBef>
                <a:spcPts val="400"/>
              </a:spcBef>
            </a:pPr>
            <a:r>
              <a:rPr sz="1400" dirty="0">
                <a:solidFill>
                  <a:srgbClr val="191919"/>
                </a:solidFill>
                <a:latin typeface="Georgia"/>
              </a:rPr>
              <a:t>✗ Invalid foreign-key test — rejected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7251192"/>
            <a:ext cx="9052560" cy="13716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098280" y="7278624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774"/>
                </a:solidFill>
              </a:rPr>
              <a:t>14</a:t>
            </a:r>
          </a:p>
        </p:txBody>
      </p:sp>
      <p:pic>
        <p:nvPicPr>
          <p:cNvPr id="13" name="Picture 12" descr="image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417320" cy="51713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3B41FAF-11AE-2CF5-A9B9-51299049AC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29000"/>
            <a:ext cx="5004926" cy="297254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F01ADCA-3D5D-9B77-3EC7-879087547C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9616" y="5117840"/>
            <a:ext cx="4714927" cy="118120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788920" y="310896"/>
            <a:ext cx="4526280" cy="502920"/>
          </a:xfrm>
          <a:prstGeom prst="roundRect">
            <a:avLst/>
          </a:prstGeom>
          <a:solidFill>
            <a:srgbClr val="FF6600"/>
          </a:solidFill>
          <a:ln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Georgia"/>
              </a:rPr>
              <a:t>PROJECT DOCUMENTATION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4160520" cy="5212080"/>
          </a:xfrm>
          <a:prstGeom prst="roundRect">
            <a:avLst/>
          </a:prstGeom>
          <a:solidFill>
            <a:srgbClr val="F7F8FA"/>
          </a:solidFill>
          <a:ln w="1397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274979"/>
                </a:solidFill>
                <a:latin typeface="Georgia"/>
              </a:rPr>
              <a:t>DESIGN DOCUMENTATION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91919"/>
                </a:solidFill>
                <a:latin typeface="Georgia"/>
              </a:rPr>
              <a:t>✓ Project title, problem statement and objectives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91919"/>
                </a:solidFill>
                <a:latin typeface="Georgia"/>
              </a:rPr>
              <a:t>✓ 8 entities and attributes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91919"/>
                </a:solidFill>
                <a:latin typeface="Georgia"/>
              </a:rPr>
              <a:t>✓ ER diagram and relationships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91919"/>
                </a:solidFill>
                <a:latin typeface="Georgia"/>
              </a:rPr>
              <a:t>✓ Relational database schema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91919"/>
                </a:solidFill>
                <a:latin typeface="Georgia"/>
              </a:rPr>
              <a:t>✓ Primary keys and foreign keys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12080" y="1234440"/>
            <a:ext cx="4160520" cy="5212080"/>
          </a:xfrm>
          <a:prstGeom prst="roundRect">
            <a:avLst/>
          </a:prstGeom>
          <a:solidFill>
            <a:srgbClr val="F7F8FA"/>
          </a:solidFill>
          <a:ln w="1397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274979"/>
                </a:solidFill>
                <a:latin typeface="Georgia"/>
              </a:rPr>
              <a:t>IMPLEMENTATION EVIDENCE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91919"/>
                </a:solidFill>
                <a:latin typeface="Georgia"/>
              </a:rPr>
              <a:t>✓ Database and table creation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91919"/>
                </a:solidFill>
                <a:latin typeface="Georgia"/>
              </a:rPr>
              <a:t>✓ Sample data insertion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91919"/>
                </a:solidFill>
                <a:latin typeface="Georgia"/>
              </a:rPr>
              <a:t>✓ DDL, DML and DQL operations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91919"/>
                </a:solidFill>
                <a:latin typeface="Georgia"/>
              </a:rPr>
              <a:t>✓ CRUD, JOIN and aggregate queries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91919"/>
                </a:solidFill>
                <a:latin typeface="Georgia"/>
              </a:rPr>
              <a:t>✓ Data integrity and validation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91919"/>
                </a:solidFill>
                <a:latin typeface="Georgia"/>
              </a:rPr>
              <a:t>✓ SQL screenshots and outputs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7251192"/>
            <a:ext cx="9052560" cy="13716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98280" y="7278624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774"/>
                </a:solidFill>
              </a:rPr>
              <a:t>15</a:t>
            </a:r>
          </a:p>
        </p:txBody>
      </p:sp>
      <p:pic>
        <p:nvPicPr>
          <p:cNvPr id="8" name="Picture 7" descr="image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417320" cy="51713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788920" y="310896"/>
            <a:ext cx="4526280" cy="502920"/>
          </a:xfrm>
          <a:prstGeom prst="roundRect">
            <a:avLst/>
          </a:prstGeom>
          <a:solidFill>
            <a:srgbClr val="FF6600"/>
          </a:solidFill>
          <a:ln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Georgia"/>
              </a:rPr>
              <a:t>DEMONSTRATE &amp; PRESENT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7251192"/>
            <a:ext cx="9052560" cy="13716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98280" y="7278624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774"/>
                </a:solidFill>
              </a:rPr>
              <a:t>16</a:t>
            </a:r>
          </a:p>
        </p:txBody>
      </p:sp>
      <p:pic>
        <p:nvPicPr>
          <p:cNvPr id="8" name="Picture 7" descr="image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417320" cy="51713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0B7602E-7846-568F-E62D-C9674AD1F0E4}"/>
              </a:ext>
            </a:extLst>
          </p:cNvPr>
          <p:cNvSpPr txBox="1"/>
          <p:nvPr/>
        </p:nvSpPr>
        <p:spPr>
          <a:xfrm>
            <a:off x="292608" y="1550504"/>
            <a:ext cx="9646522" cy="3226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700" b="1" dirty="0">
                <a:solidFill>
                  <a:srgbClr val="274979"/>
                </a:solidFill>
                <a:latin typeface="Georgia"/>
              </a:rPr>
              <a:t>LIVE DEMONSTRATION FLOW</a:t>
            </a:r>
          </a:p>
          <a:p>
            <a:pPr algn="l">
              <a:spcBef>
                <a:spcPts val="400"/>
              </a:spcBef>
            </a:pPr>
            <a:r>
              <a:rPr lang="en-US" sz="2000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Open MySQL Workbench / MySQL Client</a:t>
            </a:r>
          </a:p>
          <a:p>
            <a:pPr algn="l">
              <a:spcBef>
                <a:spcPts val="400"/>
              </a:spcBef>
            </a:pPr>
            <a:r>
              <a:rPr lang="en-US" sz="2000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Select the </a:t>
            </a:r>
            <a:r>
              <a:rPr lang="en-US" sz="2000" dirty="0" err="1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online_shopping</a:t>
            </a:r>
            <a:r>
              <a:rPr lang="en-US" sz="2000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database</a:t>
            </a:r>
          </a:p>
          <a:p>
            <a:pPr algn="l">
              <a:spcBef>
                <a:spcPts val="400"/>
              </a:spcBef>
            </a:pPr>
            <a:r>
              <a:rPr lang="en-US" sz="2000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Run SHOW TABLES and show the 8 tables</a:t>
            </a:r>
          </a:p>
          <a:p>
            <a:pPr algn="l">
              <a:spcBef>
                <a:spcPts val="400"/>
              </a:spcBef>
            </a:pPr>
            <a:r>
              <a:rPr lang="en-US" sz="2000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Display sample data from the tables</a:t>
            </a:r>
          </a:p>
          <a:p>
            <a:pPr algn="l">
              <a:spcBef>
                <a:spcPts val="400"/>
              </a:spcBef>
            </a:pPr>
            <a:r>
              <a:rPr lang="en-US" sz="2000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Demonstrate DDL, DML and DQL</a:t>
            </a:r>
          </a:p>
          <a:p>
            <a:pPr algn="l">
              <a:spcBef>
                <a:spcPts val="400"/>
              </a:spcBef>
            </a:pPr>
            <a:r>
              <a:rPr lang="en-US" sz="2000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6. Demonstrate CRUD operations</a:t>
            </a:r>
          </a:p>
          <a:p>
            <a:pPr algn="l">
              <a:spcBef>
                <a:spcPts val="400"/>
              </a:spcBef>
            </a:pPr>
            <a:r>
              <a:rPr lang="en-US" sz="2000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7. Execute JOIN and aggregate queries</a:t>
            </a:r>
          </a:p>
          <a:p>
            <a:pPr algn="l">
              <a:spcBef>
                <a:spcPts val="400"/>
              </a:spcBef>
            </a:pPr>
            <a:r>
              <a:rPr lang="en-US" sz="2000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8. Show data-integrity tests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87BCF4A-35AA-4167-88A1-41DBB688235A}"/>
              </a:ext>
            </a:extLst>
          </p:cNvPr>
          <p:cNvSpPr txBox="1"/>
          <p:nvPr/>
        </p:nvSpPr>
        <p:spPr>
          <a:xfrm>
            <a:off x="3246783" y="34323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BFAD1D-DAE7-79EB-1A0B-D845895290B9}"/>
              </a:ext>
            </a:extLst>
          </p:cNvPr>
          <p:cNvSpPr txBox="1"/>
          <p:nvPr/>
        </p:nvSpPr>
        <p:spPr>
          <a:xfrm>
            <a:off x="225503" y="1759009"/>
            <a:ext cx="9607393" cy="3152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500"/>
              </a:spcAft>
              <a:defRPr sz="1900" b="0">
                <a:solidFill>
                  <a:srgbClr val="283746"/>
                </a:solidFill>
              </a:defRPr>
            </a:pPr>
            <a:r>
              <a:rPr lang="en-US" sz="2000" dirty="0"/>
              <a:t>The Online Shopping System provides a structured relational database for managing customer, category, product, cart, order, payment and delivery information.</a:t>
            </a:r>
          </a:p>
          <a:p>
            <a:pPr algn="ctr">
              <a:spcAft>
                <a:spcPts val="500"/>
              </a:spcAft>
              <a:defRPr sz="1900" b="0">
                <a:solidFill>
                  <a:srgbClr val="283746"/>
                </a:solidFill>
              </a:defRPr>
            </a:pPr>
            <a:endParaRPr lang="en-US" sz="2000" dirty="0"/>
          </a:p>
          <a:p>
            <a:pPr algn="ctr">
              <a:spcAft>
                <a:spcPts val="500"/>
              </a:spcAft>
              <a:defRPr sz="1900" b="0">
                <a:solidFill>
                  <a:srgbClr val="283746"/>
                </a:solidFill>
              </a:defRPr>
            </a:pPr>
            <a:r>
              <a:rPr lang="en-US" sz="2000" dirty="0"/>
              <a:t>Primary and foreign keys establish relationships between tables, while constraints help maintain data integrity.</a:t>
            </a:r>
          </a:p>
          <a:p>
            <a:pPr algn="ctr">
              <a:spcAft>
                <a:spcPts val="500"/>
              </a:spcAft>
              <a:defRPr sz="1900" b="0">
                <a:solidFill>
                  <a:srgbClr val="283746"/>
                </a:solidFill>
              </a:defRPr>
            </a:pPr>
            <a:endParaRPr lang="en-US" sz="2000" dirty="0"/>
          </a:p>
          <a:p>
            <a:pPr algn="ctr">
              <a:spcAft>
                <a:spcPts val="500"/>
              </a:spcAft>
              <a:defRPr sz="1900" b="0">
                <a:solidFill>
                  <a:srgbClr val="283746"/>
                </a:solidFill>
              </a:defRPr>
            </a:pPr>
            <a:r>
              <a:rPr lang="en-US" sz="2000" dirty="0"/>
              <a:t>SQL operations demonstrate practical DBMS concepts for inserting, modifying, deleting, retrieving and analyzing data.</a:t>
            </a:r>
          </a:p>
          <a:p>
            <a:endParaRPr lang="en-IN" dirty="0"/>
          </a:p>
        </p:txBody>
      </p:sp>
      <p:sp>
        <p:nvSpPr>
          <p:cNvPr id="8" name="Rounded Rectangle 1">
            <a:extLst>
              <a:ext uri="{FF2B5EF4-FFF2-40B4-BE49-F238E27FC236}">
                <a16:creationId xmlns:a16="http://schemas.microsoft.com/office/drawing/2014/main" id="{299C9DFA-64BA-361A-B9D7-65FC7DB90D4D}"/>
              </a:ext>
            </a:extLst>
          </p:cNvPr>
          <p:cNvSpPr/>
          <p:nvPr/>
        </p:nvSpPr>
        <p:spPr>
          <a:xfrm>
            <a:off x="2788920" y="310896"/>
            <a:ext cx="4526280" cy="502920"/>
          </a:xfrm>
          <a:prstGeom prst="roundRect">
            <a:avLst/>
          </a:prstGeom>
          <a:solidFill>
            <a:srgbClr val="FF6600"/>
          </a:solidFill>
          <a:ln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900" b="1" dirty="0">
                <a:solidFill>
                  <a:srgbClr val="FFFFFF"/>
                </a:solidFill>
                <a:latin typeface="Georgia"/>
              </a:rPr>
              <a:t>CONCLUSION</a:t>
            </a:r>
            <a:endParaRPr sz="1900" b="1" dirty="0">
              <a:solidFill>
                <a:srgbClr val="FFFFFF"/>
              </a:solidFill>
              <a:latin typeface="Georgia"/>
            </a:endParaRPr>
          </a:p>
        </p:txBody>
      </p:sp>
      <p:pic>
        <p:nvPicPr>
          <p:cNvPr id="10" name="Picture 9" descr="image6.jpg">
            <a:extLst>
              <a:ext uri="{FF2B5EF4-FFF2-40B4-BE49-F238E27FC236}">
                <a16:creationId xmlns:a16="http://schemas.microsoft.com/office/drawing/2014/main" id="{D5BA5538-050E-0965-A8A6-B0BCE97CB1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417320" cy="517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002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920240" y="2240280"/>
            <a:ext cx="6217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500" b="1">
                <a:solidFill>
                  <a:srgbClr val="274979"/>
                </a:solidFill>
                <a:latin typeface="Georgia"/>
              </a:rPr>
              <a:t>ONLINE SHOPPING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92608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6600"/>
                </a:solidFill>
                <a:latin typeface="Georgia"/>
              </a:rPr>
              <a:t>DATABASE IMPLEMENTATION COMPLETE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3886200"/>
            <a:ext cx="3657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274979"/>
                </a:solidFill>
                <a:latin typeface="Georgia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457200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D62F2F"/>
                </a:solidFill>
                <a:latin typeface="Georgia"/>
              </a:rPr>
              <a:t>QUESTIONS?</a:t>
            </a:r>
          </a:p>
        </p:txBody>
      </p:sp>
      <p:pic>
        <p:nvPicPr>
          <p:cNvPr id="7" name="Picture 6" descr="image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256032"/>
            <a:ext cx="4114800" cy="150134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1191</Words>
  <Application>Microsoft Office PowerPoint</Application>
  <PresentationFormat>Custom</PresentationFormat>
  <Paragraphs>229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Aptos Narrow</vt:lpstr>
      <vt:lpstr>Arial</vt:lpstr>
      <vt:lpstr>Artifakt Element Heavy</vt:lpstr>
      <vt:lpstr>Britannic Bold</vt:lpstr>
      <vt:lpstr>Calibri</vt:lpstr>
      <vt:lpstr>Century Schoolbook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Anantapalli naga venkata sai baba</cp:lastModifiedBy>
  <cp:revision>2</cp:revision>
  <dcterms:created xsi:type="dcterms:W3CDTF">2013-01-27T09:14:16Z</dcterms:created>
  <dcterms:modified xsi:type="dcterms:W3CDTF">2026-10-10T04:49:47Z</dcterms:modified>
  <cp:category/>
</cp:coreProperties>
</file>